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c28bde8e2549f6" /><Relationship Type="http://schemas.openxmlformats.org/officeDocument/2006/relationships/extended-properties" Target="/docProps/app.xml" Id="R1d19faf9bec04455" /><Relationship Type="http://schemas.openxmlformats.org/officeDocument/2006/relationships/officeDocument" Target="/ppt/presentation.xml" Id="R525ee795a03d45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689b489f14936"/>
  </p:sldMasterIdLst>
  <p:notesMasterIdLst>
    <p:notesMasterId xmlns:r="http://schemas.openxmlformats.org/officeDocument/2006/relationships" r:id="R18a438a88b4141d1"/>
  </p:notesMasterIdLst>
  <p:sldIdLst>
    <p:sldId xmlns:r="http://schemas.openxmlformats.org/officeDocument/2006/relationships" id="256" r:id="R738d019287114497"/>
    <p:sldId xmlns:r="http://schemas.openxmlformats.org/officeDocument/2006/relationships" id="257" r:id="Reace9f7da9d84376"/>
    <p:sldId xmlns:r="http://schemas.openxmlformats.org/officeDocument/2006/relationships" id="258" r:id="R5d834bccc5eb46a5"/>
    <p:sldId xmlns:r="http://schemas.openxmlformats.org/officeDocument/2006/relationships" id="259" r:id="R7193917a2a1f448a"/>
    <p:sldId xmlns:r="http://schemas.openxmlformats.org/officeDocument/2006/relationships" id="260" r:id="R22074b5cda78434a"/>
    <p:sldId xmlns:r="http://schemas.openxmlformats.org/officeDocument/2006/relationships" id="261" r:id="R3eb98cbd5dde4169"/>
    <p:sldId xmlns:r="http://schemas.openxmlformats.org/officeDocument/2006/relationships" id="262" r:id="R34d5775cbe2e440e"/>
    <p:sldId xmlns:r="http://schemas.openxmlformats.org/officeDocument/2006/relationships" id="263" r:id="Rabfa9339054748d2"/>
    <p:sldId xmlns:r="http://schemas.openxmlformats.org/officeDocument/2006/relationships" id="264" r:id="R383e8fbfc40b4b65"/>
    <p:sldId xmlns:r="http://schemas.openxmlformats.org/officeDocument/2006/relationships" id="265" r:id="R7162856ee9294266"/>
    <p:sldId xmlns:r="http://schemas.openxmlformats.org/officeDocument/2006/relationships" id="266" r:id="Rd28bf67136bf420e"/>
    <p:sldId xmlns:r="http://schemas.openxmlformats.org/officeDocument/2006/relationships" id="267" r:id="Rfedd35fb376e4b40"/>
    <p:sldId xmlns:r="http://schemas.openxmlformats.org/officeDocument/2006/relationships" id="268" r:id="Re572ab0de93f4613"/>
    <p:sldId xmlns:r="http://schemas.openxmlformats.org/officeDocument/2006/relationships" id="269" r:id="Re79128cad074445d"/>
    <p:sldId xmlns:r="http://schemas.openxmlformats.org/officeDocument/2006/relationships" id="270" r:id="Rf04a845c49dd4a52"/>
    <p:sldId xmlns:r="http://schemas.openxmlformats.org/officeDocument/2006/relationships" id="271" r:id="R9589a151d0454748"/>
    <p:sldId xmlns:r="http://schemas.openxmlformats.org/officeDocument/2006/relationships" id="272" r:id="R2c5920a750194631"/>
    <p:sldId xmlns:r="http://schemas.openxmlformats.org/officeDocument/2006/relationships" id="273" r:id="R6f1c69afd99547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69f867cbac4a8e" /><Relationship Type="http://schemas.openxmlformats.org/officeDocument/2006/relationships/slideMaster" Target="/ppt/slideMasters/slideMaster1.xml" Id="Rb66689b489f14936" /><Relationship Type="http://schemas.openxmlformats.org/officeDocument/2006/relationships/notesMaster" Target="/ppt/notesMasters/notesMaster1.xml" Id="R18a438a88b4141d1" /><Relationship Type="http://schemas.openxmlformats.org/officeDocument/2006/relationships/presProps" Target="/ppt/presProps.xml" Id="R13148f686e9b489b" /><Relationship Type="http://schemas.openxmlformats.org/officeDocument/2006/relationships/tableStyles" Target="/ppt/tableStyles.xml" Id="R5fc22e26dcbf49a8" /><Relationship Type="http://schemas.openxmlformats.org/officeDocument/2006/relationships/slide" Target="/ppt/slides/slide1.xml" Id="R738d019287114497" /><Relationship Type="http://schemas.openxmlformats.org/officeDocument/2006/relationships/slide" Target="/ppt/slides/slide2.xml" Id="Reace9f7da9d84376" /><Relationship Type="http://schemas.openxmlformats.org/officeDocument/2006/relationships/slide" Target="/ppt/slides/slide3.xml" Id="R5d834bccc5eb46a5" /><Relationship Type="http://schemas.openxmlformats.org/officeDocument/2006/relationships/slide" Target="/ppt/slides/slide4.xml" Id="R7193917a2a1f448a" /><Relationship Type="http://schemas.openxmlformats.org/officeDocument/2006/relationships/slide" Target="/ppt/slides/slide5.xml" Id="R22074b5cda78434a" /><Relationship Type="http://schemas.openxmlformats.org/officeDocument/2006/relationships/slide" Target="/ppt/slides/slide6.xml" Id="R3eb98cbd5dde4169" /><Relationship Type="http://schemas.openxmlformats.org/officeDocument/2006/relationships/slide" Target="/ppt/slides/slide7.xml" Id="R34d5775cbe2e440e" /><Relationship Type="http://schemas.openxmlformats.org/officeDocument/2006/relationships/slide" Target="/ppt/slides/slide8.xml" Id="Rabfa9339054748d2" /><Relationship Type="http://schemas.openxmlformats.org/officeDocument/2006/relationships/slide" Target="/ppt/slides/slide9.xml" Id="R383e8fbfc40b4b65" /><Relationship Type="http://schemas.openxmlformats.org/officeDocument/2006/relationships/slide" Target="/ppt/slides/slide10.xml" Id="R7162856ee9294266" /><Relationship Type="http://schemas.openxmlformats.org/officeDocument/2006/relationships/slide" Target="/ppt/slides/slide11.xml" Id="Rd28bf67136bf420e" /><Relationship Type="http://schemas.openxmlformats.org/officeDocument/2006/relationships/slide" Target="/ppt/slides/slide12.xml" Id="Rfedd35fb376e4b40" /><Relationship Type="http://schemas.openxmlformats.org/officeDocument/2006/relationships/slide" Target="/ppt/slides/slide13.xml" Id="Re572ab0de93f4613" /><Relationship Type="http://schemas.openxmlformats.org/officeDocument/2006/relationships/slide" Target="/ppt/slides/slide14.xml" Id="Re79128cad074445d" /><Relationship Type="http://schemas.openxmlformats.org/officeDocument/2006/relationships/slide" Target="/ppt/slides/slide15.xml" Id="Rf04a845c49dd4a52" /><Relationship Type="http://schemas.openxmlformats.org/officeDocument/2006/relationships/slide" Target="/ppt/slides/slide16.xml" Id="R9589a151d0454748" /><Relationship Type="http://schemas.openxmlformats.org/officeDocument/2006/relationships/slide" Target="/ppt/slides/slide17.xml" Id="R2c5920a750194631" /><Relationship Type="http://schemas.openxmlformats.org/officeDocument/2006/relationships/slide" Target="/ppt/slides/slide18.xml" Id="R6f1c69afd99547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b1f4b450944c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a840f0b1a74752" /><Relationship Type="http://schemas.openxmlformats.org/officeDocument/2006/relationships/notesMaster" Target="/ppt/notesMasters/notesMaster1.xml" Id="Rb3ac446a3cbd41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6419e7818b49c1" /><Relationship Type="http://schemas.openxmlformats.org/officeDocument/2006/relationships/notesMaster" Target="/ppt/notesMasters/notesMaster1.xml" Id="Rc28cc1a6bf5041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e8a24dc0cd4e20" /><Relationship Type="http://schemas.openxmlformats.org/officeDocument/2006/relationships/notesMaster" Target="/ppt/notesMasters/notesMaster1.xml" Id="Rdcd8e722577746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b881423ff341f7" /><Relationship Type="http://schemas.openxmlformats.org/officeDocument/2006/relationships/notesMaster" Target="/ppt/notesMasters/notesMaster1.xml" Id="Rd2ef6bb99beb41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258c8bbb514f5f" /><Relationship Type="http://schemas.openxmlformats.org/officeDocument/2006/relationships/notesMaster" Target="/ppt/notesMasters/notesMaster1.xml" Id="Re6e2277b41bc4f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7577ade4fa400b" /><Relationship Type="http://schemas.openxmlformats.org/officeDocument/2006/relationships/notesMaster" Target="/ppt/notesMasters/notesMaster1.xml" Id="Raa25b4c095ce41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77b4dacc71416e" /><Relationship Type="http://schemas.openxmlformats.org/officeDocument/2006/relationships/notesMaster" Target="/ppt/notesMasters/notesMaster1.xml" Id="Ra59eff9d57914c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e27282ea364996" /><Relationship Type="http://schemas.openxmlformats.org/officeDocument/2006/relationships/notesMaster" Target="/ppt/notesMasters/notesMaster1.xml" Id="R8f66fd59fd8d41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bc1d434dc74bf2" /><Relationship Type="http://schemas.openxmlformats.org/officeDocument/2006/relationships/notesMaster" Target="/ppt/notesMasters/notesMaster1.xml" Id="Ra987b9cd0f4d4c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f902b8dbfa47e2" /><Relationship Type="http://schemas.openxmlformats.org/officeDocument/2006/relationships/notesMaster" Target="/ppt/notesMasters/notesMaster1.xml" Id="R0515390fde0544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5ab4607fde4a47" /><Relationship Type="http://schemas.openxmlformats.org/officeDocument/2006/relationships/notesMaster" Target="/ppt/notesMasters/notesMaster1.xml" Id="Rfd2c8f466cea4f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5233047e9a4c79" /><Relationship Type="http://schemas.openxmlformats.org/officeDocument/2006/relationships/notesMaster" Target="/ppt/notesMasters/notesMaster1.xml" Id="R1a5a882650724b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ab3790222d48f2" /><Relationship Type="http://schemas.openxmlformats.org/officeDocument/2006/relationships/notesMaster" Target="/ppt/notesMasters/notesMaster1.xml" Id="R08acd0af594d43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3ee682ae3047a6" /><Relationship Type="http://schemas.openxmlformats.org/officeDocument/2006/relationships/notesMaster" Target="/ppt/notesMasters/notesMaster1.xml" Id="R02a5e2568e4048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842cc93f004950" /><Relationship Type="http://schemas.openxmlformats.org/officeDocument/2006/relationships/notesMaster" Target="/ppt/notesMasters/notesMaster1.xml" Id="Rd7a6f55b25d248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fcc39b5fc54881" /><Relationship Type="http://schemas.openxmlformats.org/officeDocument/2006/relationships/notesMaster" Target="/ppt/notesMasters/notesMaster1.xml" Id="Rb4514d66745d4f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97399f543949d7" /><Relationship Type="http://schemas.openxmlformats.org/officeDocument/2006/relationships/notesMaster" Target="/ppt/notesMasters/notesMaster1.xml" Id="R8685857d21af4e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c30fbf85544314" /><Relationship Type="http://schemas.openxmlformats.org/officeDocument/2006/relationships/notesMaster" Target="/ppt/notesMasters/notesMaster1.xml" Id="R2cc40b6f95c042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v0.7 · 2026-09-09</a:t>
            </a:r>
          </a:p>
          <a:p xmlns:a="http://schemas.openxmlformats.org/drawingml/2006/main">
            <a:r>
              <a:t>자료 근거: 저장소 CLAUDE_IMPLEMENTATION.md v1.4, 3개 SCENARIO 문서, DESIGN_SPEC.md.</a:t>
            </a:r>
          </a:p>
          <a:p xmlns:a="http://schemas.openxmlformats.org/drawingml/2006/main">
            <a:r>
              <a:t>모든 안건·인물·수치는 체험용 가상 설정. 이미지는 ImageGen 콘셉트 목업이며 실제 앱 캡처가 아니다. 마우스 클릭·물리 키보드 중심. 의견은 투표로 집계하지 않고 최종안 확인 후 한 표를 확정한다.</a:t>
            </a:r>
          </a:p>
          <a:p xmlns:a="http://schemas.openxmlformats.org/drawingml/2006/main">
            <a:r>
              <a:t>P0 안건② / P1 세 안건과 관람 창 / P2 선택적 실시간 발언 정리. 브리핑 AI 자동 정리는 사전 구성으로 항상 제공한다. 결과에도 자동 정리를 기록한다.</a:t>
            </a:r>
          </a:p>
          <a:p xmlns:a="http://schemas.openxmlformats.org/drawingml/2006/main">
            <a:r>
              <a:t>안건② PILOT+REVIEW+ACCESS+MEASURE 및 참가자 찬성 예시는 찬성5·보류0·반대0. 안건③ P1+P4는 검증안(확대 재심의)이며 확대 자체 승인과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ec51bb077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40eb2be1e348b4" /><Relationship Type="http://schemas.openxmlformats.org/officeDocument/2006/relationships/slideLayout" Target="/ppt/slideLayouts/slideLayout1.xml" Id="R3e9fc048827944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fc048827944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960623ce748c5" /><Relationship Type="http://schemas.openxmlformats.org/officeDocument/2006/relationships/image" Target="/ppt/media/image.png" Id="R12362f9c765f435f" /><Relationship Type="http://schemas.openxmlformats.org/officeDocument/2006/relationships/notesSlide" Target="/ppt/notesSlides/notesSlide1.xml" Id="Rd1212157690043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72df558f45d1" /><Relationship Type="http://schemas.openxmlformats.org/officeDocument/2006/relationships/notesSlide" Target="/ppt/notesSlides/notesSlide2.xml" Id="Re81927fde89d42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9cbd1367c4a5d" /><Relationship Type="http://schemas.openxmlformats.org/officeDocument/2006/relationships/notesSlide" Target="/ppt/notesSlides/notesSlide3.xml" Id="R7e8ada9f24d54b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20f40d77144a7" /><Relationship Type="http://schemas.openxmlformats.org/officeDocument/2006/relationships/image" Target="/ppt/media/image2.png" Id="Red5612de4ca24eb9" /><Relationship Type="http://schemas.openxmlformats.org/officeDocument/2006/relationships/notesSlide" Target="/ppt/notesSlides/notesSlide4.xml" Id="R2b2c2b530e1d4c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86c51c31c4773" /><Relationship Type="http://schemas.openxmlformats.org/officeDocument/2006/relationships/notesSlide" Target="/ppt/notesSlides/notesSlide5.xml" Id="R425a765dc89545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41177a3ca465d" /><Relationship Type="http://schemas.openxmlformats.org/officeDocument/2006/relationships/notesSlide" Target="/ppt/notesSlides/notesSlide6.xml" Id="R8169dfb779d949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84f689f484d4f" /><Relationship Type="http://schemas.openxmlformats.org/officeDocument/2006/relationships/image" Target="/ppt/media/image3.png" Id="R2ac35a657857489d" /><Relationship Type="http://schemas.openxmlformats.org/officeDocument/2006/relationships/notesSlide" Target="/ppt/notesSlides/notesSlide7.xml" Id="Rc4175a79864b42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9f1992f6b4451" /><Relationship Type="http://schemas.openxmlformats.org/officeDocument/2006/relationships/image" Target="/ppt/media/image4.png" Id="Ra3b75e729934408a" /><Relationship Type="http://schemas.openxmlformats.org/officeDocument/2006/relationships/notesSlide" Target="/ppt/notesSlides/notesSlide8.xml" Id="R7461c3fc367f42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65c9cdb1240b2" /><Relationship Type="http://schemas.openxmlformats.org/officeDocument/2006/relationships/image" Target="/ppt/media/image5.png" Id="R7a879fd01d514203" /><Relationship Type="http://schemas.openxmlformats.org/officeDocument/2006/relationships/notesSlide" Target="/ppt/notesSlides/notesSlide9.xml" Id="R5d62efbb940246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7f03c722f495a" /><Relationship Type="http://schemas.openxmlformats.org/officeDocument/2006/relationships/notesSlide" Target="/ppt/notesSlides/notesSlide10.xml" Id="Ra88cd07e2e0946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5fc80dd3044c0" /><Relationship Type="http://schemas.openxmlformats.org/officeDocument/2006/relationships/notesSlide" Target="/ppt/notesSlides/notesSlide11.xml" Id="R8c0007ce051842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2a19f0a564c40" /><Relationship Type="http://schemas.openxmlformats.org/officeDocument/2006/relationships/image" Target="/ppt/media/image6.png" Id="Rd9fea6ea5b994de5" /><Relationship Type="http://schemas.openxmlformats.org/officeDocument/2006/relationships/notesSlide" Target="/ppt/notesSlides/notesSlide12.xml" Id="R3d4ccce9e98c4a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4ff36e8834e0a" /><Relationship Type="http://schemas.openxmlformats.org/officeDocument/2006/relationships/image" Target="/ppt/media/image7.png" Id="R2fe3aaa8a85442a6" /><Relationship Type="http://schemas.openxmlformats.org/officeDocument/2006/relationships/notesSlide" Target="/ppt/notesSlides/notesSlide13.xml" Id="R0b381b0af33d4d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069ca01384202" /><Relationship Type="http://schemas.openxmlformats.org/officeDocument/2006/relationships/notesSlide" Target="/ppt/notesSlides/notesSlide14.xml" Id="R7dea2cfb1dac4f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72be86d3f4743" /><Relationship Type="http://schemas.openxmlformats.org/officeDocument/2006/relationships/image" Target="/ppt/media/image8.png" Id="Ree68d179daf84d67" /><Relationship Type="http://schemas.openxmlformats.org/officeDocument/2006/relationships/notesSlide" Target="/ppt/notesSlides/notesSlide15.xml" Id="R371db196c06844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041f709ed4513" /><Relationship Type="http://schemas.openxmlformats.org/officeDocument/2006/relationships/notesSlide" Target="/ppt/notesSlides/notesSlide16.xml" Id="R9a9358551ce744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6db471cf34261" /><Relationship Type="http://schemas.openxmlformats.org/officeDocument/2006/relationships/notesSlide" Target="/ppt/notesSlides/notesSlide17.xml" Id="Rbe53de055bf741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f49a578574418" /><Relationship Type="http://schemas.openxmlformats.org/officeDocument/2006/relationships/notesSlide" Target="/ppt/notesSlides/notesSlide18.xml" Id="R973be54835fe43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1">
            <a:extLst xmlns:a="http://schemas.openxmlformats.org/drawingml/2006/main">
              <a:ext uri="{FF2B5EF4-FFF2-40B4-BE49-F238E27FC236}">
                <a16:creationId xmlns:a16="http://schemas.microsoft.com/office/drawing/2014/main" id="{BC41D568-F237-4FE6-B120-124F278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AX DAY 2026 · BOOTH EXPERIENCE</a:t>
            </a:r>
          </a:p>
        </p:txBody>
      </p:sp>
      <p:sp>
        <p:nvSpPr>
          <p:cNvPr id="2" name="t2">
            <a:extLst xmlns:a="http://schemas.openxmlformats.org/drawingml/2006/main">
              <a:ext uri="{FF2B5EF4-FFF2-40B4-BE49-F238E27FC236}">
                <a16:creationId xmlns:a16="http://schemas.microsoft.com/office/drawing/2014/main" id="{D0E81025-E718-40B2-80BA-6844A780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3">
            <a:extLst xmlns:a="http://schemas.openxmlformats.org/drawingml/2006/main">
              <a:ext uri="{FF2B5EF4-FFF2-40B4-BE49-F238E27FC236}">
                <a16:creationId xmlns:a16="http://schemas.microsoft.com/office/drawing/2014/main" id="{0338C65A-BBAA-498D-82B2-57D6275B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4">
            <a:extLst xmlns:a="http://schemas.openxmlformats.org/drawingml/2006/main">
              <a:ext uri="{FF2B5EF4-FFF2-40B4-BE49-F238E27FC236}">
                <a16:creationId xmlns:a16="http://schemas.microsoft.com/office/drawing/2014/main" id="{B2C60488-8184-4383-B92B-BFEBC9D9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t5">
            <a:extLst xmlns:a="http://schemas.openxmlformats.org/drawingml/2006/main">
              <a:ext uri="{FF2B5EF4-FFF2-40B4-BE49-F238E27FC236}">
                <a16:creationId xmlns:a16="http://schemas.microsoft.com/office/drawing/2014/main" id="{5E5D5503-848D-4133-9AE9-7628EE14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BOARDROOM 2026</a:t>
            </a:r>
          </a:p>
        </p:txBody>
      </p:sp>
      <p:sp>
        <p:nvSpPr>
          <p:cNvPr id="7" name="t6">
            <a:extLst xmlns:a="http://schemas.openxmlformats.org/drawingml/2006/main">
              <a:ext uri="{FF2B5EF4-FFF2-40B4-BE49-F238E27FC236}">
                <a16:creationId xmlns:a16="http://schemas.microsoft.com/office/drawing/2014/main" id="{A99161AC-22B5-42B6-BB18-8E96CCE9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4분 이사회</a:t>
            </a:r>
          </a:p>
        </p:txBody>
      </p:sp>
      <p:sp>
        <p:nvSpPr>
          <p:cNvPr id="8" name="t7">
            <a:extLst xmlns:a="http://schemas.openxmlformats.org/drawingml/2006/main">
              <a:ext uri="{FF2B5EF4-FFF2-40B4-BE49-F238E27FC236}">
                <a16:creationId xmlns:a16="http://schemas.microsoft.com/office/drawing/2014/main" id="{9F088A39-501D-498E-98C8-281FAF20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오늘, 당신이</a:t>
            </a:r>
          </a:p>
          <a:p xmlns:a="http://schemas.openxmlformats.org/drawingml/2006/main">
            <a:pPr>
              <a:buNone/>
              <a:defRPr sz="22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이사회의 한 자리를 맡습니다.</a:t>
            </a:r>
          </a:p>
        </p:txBody>
      </p:sp>
      <p:sp>
        <p:nvSpPr>
          <p:cNvPr id="9" name="t8">
            <a:extLst xmlns:a="http://schemas.openxmlformats.org/drawingml/2006/main">
              <a:ext uri="{FF2B5EF4-FFF2-40B4-BE49-F238E27FC236}">
                <a16:creationId xmlns:a16="http://schemas.microsoft.com/office/drawing/2014/main" id="{E4CDED9E-8331-495C-8266-8322F8BF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 · 2026.09.09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62f9c765f435f"/>
          <a:stretch xmlns:a="http://schemas.openxmlformats.org/drawingml/2006/main"/>
        </p:blipFill>
        <p:spPr>
          <a:xfrm xmlns:a="http://schemas.openxmlformats.org/drawingml/2006/main">
            <a:off x="5018739" y="2428875"/>
            <a:ext cx="6431248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44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9">
            <a:extLst xmlns:a="http://schemas.openxmlformats.org/drawingml/2006/main">
              <a:ext uri="{FF2B5EF4-FFF2-40B4-BE49-F238E27FC236}">
                <a16:creationId xmlns:a16="http://schemas.microsoft.com/office/drawing/2014/main" id="{719A8123-20E0-4250-BEA0-2747B96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01  EXPERIENCE GOAL</a:t>
            </a:r>
          </a:p>
        </p:txBody>
      </p:sp>
      <p:sp>
        <p:nvSpPr>
          <p:cNvPr id="2" name="t10">
            <a:extLst xmlns:a="http://schemas.openxmlformats.org/drawingml/2006/main">
              <a:ext uri="{FF2B5EF4-FFF2-40B4-BE49-F238E27FC236}">
                <a16:creationId xmlns:a16="http://schemas.microsoft.com/office/drawing/2014/main" id="{16DF2D4B-A0B3-4D3E-B4A9-F437B95B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핵심은 “내가 보더진이 되는 경험”</a:t>
            </a:r>
          </a:p>
        </p:txBody>
      </p:sp>
      <p:sp>
        <p:nvSpPr>
          <p:cNvPr id="3" name="t11">
            <a:extLst xmlns:a="http://schemas.openxmlformats.org/drawingml/2006/main">
              <a:ext uri="{FF2B5EF4-FFF2-40B4-BE49-F238E27FC236}">
                <a16:creationId xmlns:a16="http://schemas.microsoft.com/office/drawing/2014/main" id="{DCF8C149-B50F-4E71-983F-7B17F59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몰입 → 의견 교환 → AI 업무 효율 체감의 순서로 설계합니다.</a:t>
            </a:r>
          </a:p>
        </p:txBody>
      </p:sp>
      <p:sp>
        <p:nvSpPr>
          <p:cNvPr id="4" name="t12">
            <a:extLst xmlns:a="http://schemas.openxmlformats.org/drawingml/2006/main">
              <a:ext uri="{FF2B5EF4-FFF2-40B4-BE49-F238E27FC236}">
                <a16:creationId xmlns:a16="http://schemas.microsoft.com/office/drawing/2014/main" id="{2FA4D2A3-1DE2-4A35-9C54-014BEEEA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5" name="t13">
            <a:extLst xmlns:a="http://schemas.openxmlformats.org/drawingml/2006/main">
              <a:ext uri="{FF2B5EF4-FFF2-40B4-BE49-F238E27FC236}">
                <a16:creationId xmlns:a16="http://schemas.microsoft.com/office/drawing/2014/main" id="{A837CCEB-AD02-4052-8339-020043AA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t14">
            <a:extLst xmlns:a="http://schemas.openxmlformats.org/drawingml/2006/main">
              <a:ext uri="{FF2B5EF4-FFF2-40B4-BE49-F238E27FC236}">
                <a16:creationId xmlns:a16="http://schemas.microsoft.com/office/drawing/2014/main" id="{9DD421B6-4422-4D07-9A86-289CEC7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15">
            <a:extLst xmlns:a="http://schemas.openxmlformats.org/drawingml/2006/main">
              <a:ext uri="{FF2B5EF4-FFF2-40B4-BE49-F238E27FC236}">
                <a16:creationId xmlns:a16="http://schemas.microsoft.com/office/drawing/2014/main" id="{28116360-2FAB-44E4-88F5-7E5C50A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이사회에 참여한다</a:t>
            </a:r>
          </a:p>
        </p:txBody>
      </p:sp>
      <p:sp>
        <p:nvSpPr>
          <p:cNvPr id="8" name="t16">
            <a:extLst xmlns:a="http://schemas.openxmlformats.org/drawingml/2006/main">
              <a:ext uri="{FF2B5EF4-FFF2-40B4-BE49-F238E27FC236}">
                <a16:creationId xmlns:a16="http://schemas.microsoft.com/office/drawing/2014/main" id="{F08FD592-3F13-488D-86DA-C90DBCB4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05050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특별 이사로 착석하고</a:t>
            </a:r>
          </a:p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다른 임원과 동등한 한 표를 갖습니다.</a:t>
            </a:r>
          </a:p>
        </p:txBody>
      </p:sp>
      <p:sp>
        <p:nvSpPr>
          <p:cNvPr id="9" name="t17">
            <a:extLst xmlns:a="http://schemas.openxmlformats.org/drawingml/2006/main">
              <a:ext uri="{FF2B5EF4-FFF2-40B4-BE49-F238E27FC236}">
                <a16:creationId xmlns:a16="http://schemas.microsoft.com/office/drawing/2014/main" id="{0F992A59-B245-40F0-83CD-E52051C4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18">
            <a:extLst xmlns:a="http://schemas.openxmlformats.org/drawingml/2006/main">
              <a:ext uri="{FF2B5EF4-FFF2-40B4-BE49-F238E27FC236}">
                <a16:creationId xmlns:a16="http://schemas.microsoft.com/office/drawing/2014/main" id="{9046C640-3162-4087-A669-4FF0FC0A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7187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내 판단을 말한다</a:t>
            </a:r>
          </a:p>
        </p:txBody>
      </p:sp>
      <p:sp>
        <p:nvSpPr>
          <p:cNvPr id="11" name="t19">
            <a:extLst xmlns:a="http://schemas.openxmlformats.org/drawingml/2006/main">
              <a:ext uri="{FF2B5EF4-FFF2-40B4-BE49-F238E27FC236}">
                <a16:creationId xmlns:a16="http://schemas.microsoft.com/office/drawing/2014/main" id="{FAF1BBA1-581A-4E8D-9705-8F4117EF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09975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추천 문구를 여러 개 고르거나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직접 입력해 의견을 전달합니다.</a:t>
            </a:r>
          </a:p>
        </p:txBody>
      </p:sp>
      <p:sp>
        <p:nvSpPr>
          <p:cNvPr id="12" name="t20">
            <a:extLst xmlns:a="http://schemas.openxmlformats.org/drawingml/2006/main">
              <a:ext uri="{FF2B5EF4-FFF2-40B4-BE49-F238E27FC236}">
                <a16:creationId xmlns:a16="http://schemas.microsoft.com/office/drawing/2014/main" id="{A063293C-4782-4564-BB99-346F6B3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21">
            <a:extLst xmlns:a="http://schemas.openxmlformats.org/drawingml/2006/main">
              <a:ext uri="{FF2B5EF4-FFF2-40B4-BE49-F238E27FC236}">
                <a16:creationId xmlns:a16="http://schemas.microsoft.com/office/drawing/2014/main" id="{D1B2B28F-4E10-4D2F-BA4D-0A6E05C7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AI의 도움을 체감한다</a:t>
            </a:r>
          </a:p>
        </p:txBody>
      </p:sp>
      <p:sp>
        <p:nvSpPr>
          <p:cNvPr id="14" name="t22">
            <a:extLst xmlns:a="http://schemas.openxmlformats.org/drawingml/2006/main">
              <a:ext uri="{FF2B5EF4-FFF2-40B4-BE49-F238E27FC236}">
                <a16:creationId xmlns:a16="http://schemas.microsoft.com/office/drawing/2014/main" id="{7B60F23A-1948-46C3-AB79-A246AE8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자동 정리로 자료의 차이를 확인하고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추가 도움을 선택해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955943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23">
            <a:extLst xmlns:a="http://schemas.openxmlformats.org/drawingml/2006/main">
              <a:ext uri="{FF2B5EF4-FFF2-40B4-BE49-F238E27FC236}">
                <a16:creationId xmlns:a16="http://schemas.microsoft.com/office/drawing/2014/main" id="{E98913FB-57B2-4D45-9FC1-E29BC55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02  BOARD MEMBERS</a:t>
            </a:r>
          </a:p>
        </p:txBody>
      </p:sp>
      <p:sp>
        <p:nvSpPr>
          <p:cNvPr id="2" name="t24">
            <a:extLst xmlns:a="http://schemas.openxmlformats.org/drawingml/2006/main">
              <a:ext uri="{FF2B5EF4-FFF2-40B4-BE49-F238E27FC236}">
                <a16:creationId xmlns:a16="http://schemas.microsoft.com/office/drawing/2014/main" id="{0CA4F1DA-7F01-4A38-8462-77862501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임원 4명과 참가자가 함께 결정합니다</a:t>
            </a:r>
          </a:p>
        </p:txBody>
      </p:sp>
      <p:sp>
        <p:nvSpPr>
          <p:cNvPr id="3" name="t25">
            <a:extLst xmlns:a="http://schemas.openxmlformats.org/drawingml/2006/main">
              <a:ext uri="{FF2B5EF4-FFF2-40B4-BE49-F238E27FC236}">
                <a16:creationId xmlns:a16="http://schemas.microsoft.com/office/drawing/2014/main" id="{94F7EDC0-49F8-4621-8408-BA16DB2D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CFO · CAIO는 한 사람, 한 의석, 한 표입니다.</a:t>
            </a:r>
          </a:p>
        </p:txBody>
      </p:sp>
      <p:sp>
        <p:nvSpPr>
          <p:cNvPr id="4" name="t26">
            <a:extLst xmlns:a="http://schemas.openxmlformats.org/drawingml/2006/main">
              <a:ext uri="{FF2B5EF4-FFF2-40B4-BE49-F238E27FC236}">
                <a16:creationId xmlns:a16="http://schemas.microsoft.com/office/drawing/2014/main" id="{4C6D143B-38A9-45E6-AD37-72C8E03A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5" name="t27">
            <a:extLst xmlns:a="http://schemas.openxmlformats.org/drawingml/2006/main">
              <a:ext uri="{FF2B5EF4-FFF2-40B4-BE49-F238E27FC236}">
                <a16:creationId xmlns:a16="http://schemas.microsoft.com/office/drawing/2014/main" id="{80E1C51B-34D7-4311-A762-F599CFD5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t28">
            <a:extLst xmlns:a="http://schemas.openxmlformats.org/drawingml/2006/main">
              <a:ext uri="{FF2B5EF4-FFF2-40B4-BE49-F238E27FC236}">
                <a16:creationId xmlns:a16="http://schemas.microsoft.com/office/drawing/2014/main" id="{9D535C85-06F0-47F8-BD69-AFCDBF1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참석자</a:t>
            </a:r>
          </a:p>
        </p:txBody>
      </p:sp>
      <p:sp>
        <p:nvSpPr>
          <p:cNvPr id="7" name="t29">
            <a:extLst xmlns:a="http://schemas.openxmlformats.org/drawingml/2006/main">
              <a:ext uri="{FF2B5EF4-FFF2-40B4-BE49-F238E27FC236}">
                <a16:creationId xmlns:a16="http://schemas.microsoft.com/office/drawing/2014/main" id="{FBC35CC5-BF6A-4E94-9D81-89F72A49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097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검토 관점</a:t>
            </a:r>
          </a:p>
        </p:txBody>
      </p:sp>
      <p:sp>
        <p:nvSpPr>
          <p:cNvPr id="8" name="t30">
            <a:extLst xmlns:a="http://schemas.openxmlformats.org/drawingml/2006/main">
              <a:ext uri="{FF2B5EF4-FFF2-40B4-BE49-F238E27FC236}">
                <a16:creationId xmlns:a16="http://schemas.microsoft.com/office/drawing/2014/main" id="{AF312EA1-0116-47F3-A354-EC661282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09775"/>
            <a:ext cx="469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대표 질문</a:t>
            </a:r>
          </a:p>
        </p:txBody>
      </p:sp>
      <p:sp>
        <p:nvSpPr>
          <p:cNvPr id="9" name="t31">
            <a:extLst xmlns:a="http://schemas.openxmlformats.org/drawingml/2006/main">
              <a:ext uri="{FF2B5EF4-FFF2-40B4-BE49-F238E27FC236}">
                <a16:creationId xmlns:a16="http://schemas.microsoft.com/office/drawing/2014/main" id="{83D5952A-9938-44AB-B247-3C4596FF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62225"/>
            <a:ext cx="2314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CEO</a:t>
            </a:r>
          </a:p>
        </p:txBody>
      </p:sp>
      <p:sp>
        <p:nvSpPr>
          <p:cNvPr id="10" name="t32">
            <a:extLst xmlns:a="http://schemas.openxmlformats.org/drawingml/2006/main">
              <a:ext uri="{FF2B5EF4-FFF2-40B4-BE49-F238E27FC236}">
                <a16:creationId xmlns:a16="http://schemas.microsoft.com/office/drawing/2014/main" id="{9CF58F43-1701-4B89-A27B-F3C0AD3A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62225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사업 방향·고객 가치</a:t>
            </a:r>
          </a:p>
        </p:txBody>
      </p:sp>
      <p:sp>
        <p:nvSpPr>
          <p:cNvPr id="11" name="t33">
            <a:extLst xmlns:a="http://schemas.openxmlformats.org/drawingml/2006/main">
              <a:ext uri="{FF2B5EF4-FFF2-40B4-BE49-F238E27FC236}">
                <a16:creationId xmlns:a16="http://schemas.microsoft.com/office/drawing/2014/main" id="{50A53186-2C3E-4B58-B9A2-D813FD7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6222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왜 지금 추진해야 할까요?</a:t>
            </a:r>
          </a:p>
        </p:txBody>
      </p:sp>
      <p:sp>
        <p:nvSpPr>
          <p:cNvPr id="12" name="t34">
            <a:extLst xmlns:a="http://schemas.openxmlformats.org/drawingml/2006/main">
              <a:ext uri="{FF2B5EF4-FFF2-40B4-BE49-F238E27FC236}">
                <a16:creationId xmlns:a16="http://schemas.microsoft.com/office/drawing/2014/main" id="{A634793D-6B05-4BDB-88BC-370C70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28975"/>
            <a:ext cx="2314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CFO · CAIO</a:t>
            </a:r>
          </a:p>
        </p:txBody>
      </p:sp>
      <p:sp>
        <p:nvSpPr>
          <p:cNvPr id="13" name="t35">
            <a:extLst xmlns:a="http://schemas.openxmlformats.org/drawingml/2006/main">
              <a:ext uri="{FF2B5EF4-FFF2-40B4-BE49-F238E27FC236}">
                <a16:creationId xmlns:a16="http://schemas.microsoft.com/office/drawing/2014/main" id="{CF44F01D-0E6E-4083-9A63-A7216A82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28975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투자 효과·AI 활용 전략</a:t>
            </a:r>
          </a:p>
        </p:txBody>
      </p:sp>
      <p:sp>
        <p:nvSpPr>
          <p:cNvPr id="14" name="t36">
            <a:extLst xmlns:a="http://schemas.openxmlformats.org/drawingml/2006/main">
              <a:ext uri="{FF2B5EF4-FFF2-40B4-BE49-F238E27FC236}">
                <a16:creationId xmlns:a16="http://schemas.microsoft.com/office/drawing/2014/main" id="{D72BD216-8C84-4C13-AB09-17DDD9E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22897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어떤 성과를 확인할까요?</a:t>
            </a:r>
          </a:p>
        </p:txBody>
      </p:sp>
      <p:sp>
        <p:nvSpPr>
          <p:cNvPr id="15" name="t37">
            <a:extLst xmlns:a="http://schemas.openxmlformats.org/drawingml/2006/main">
              <a:ext uri="{FF2B5EF4-FFF2-40B4-BE49-F238E27FC236}">
                <a16:creationId xmlns:a16="http://schemas.microsoft.com/office/drawing/2014/main" id="{1EFCE50E-9A3F-422D-9934-C4C7F639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95725"/>
            <a:ext cx="2314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CIO</a:t>
            </a:r>
          </a:p>
        </p:txBody>
      </p:sp>
      <p:sp>
        <p:nvSpPr>
          <p:cNvPr id="16" name="t38">
            <a:extLst xmlns:a="http://schemas.openxmlformats.org/drawingml/2006/main">
              <a:ext uri="{FF2B5EF4-FFF2-40B4-BE49-F238E27FC236}">
                <a16:creationId xmlns:a16="http://schemas.microsoft.com/office/drawing/2014/main" id="{91B3E5C7-2440-4632-8669-382FF80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95725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연계·데이터·IT 운영</a:t>
            </a:r>
          </a:p>
        </p:txBody>
      </p:sp>
      <p:sp>
        <p:nvSpPr>
          <p:cNvPr id="17" name="t39">
            <a:extLst xmlns:a="http://schemas.openxmlformats.org/drawingml/2006/main">
              <a:ext uri="{FF2B5EF4-FFF2-40B4-BE49-F238E27FC236}">
                <a16:creationId xmlns:a16="http://schemas.microsoft.com/office/drawing/2014/main" id="{466C985A-7FFB-41F2-AA48-4CCD37C8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9572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어떻게 구현하고 운영하죠?</a:t>
            </a:r>
          </a:p>
        </p:txBody>
      </p:sp>
      <p:sp>
        <p:nvSpPr>
          <p:cNvPr id="18" name="t40">
            <a:extLst xmlns:a="http://schemas.openxmlformats.org/drawingml/2006/main">
              <a:ext uri="{FF2B5EF4-FFF2-40B4-BE49-F238E27FC236}">
                <a16:creationId xmlns:a16="http://schemas.microsoft.com/office/drawing/2014/main" id="{6E38B85C-D0E4-4FC7-B4BB-EFE12B23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62475"/>
            <a:ext cx="2314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CISO</a:t>
            </a:r>
          </a:p>
        </p:txBody>
      </p:sp>
      <p:sp>
        <p:nvSpPr>
          <p:cNvPr id="19" name="t41">
            <a:extLst xmlns:a="http://schemas.openxmlformats.org/drawingml/2006/main">
              <a:ext uri="{FF2B5EF4-FFF2-40B4-BE49-F238E27FC236}">
                <a16:creationId xmlns:a16="http://schemas.microsoft.com/office/drawing/2014/main" id="{ED24EA0B-CA08-45C3-ADC3-661517B5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562475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정보보호·사용 권한</a:t>
            </a:r>
          </a:p>
        </p:txBody>
      </p:sp>
      <p:sp>
        <p:nvSpPr>
          <p:cNvPr id="20" name="t42">
            <a:extLst xmlns:a="http://schemas.openxmlformats.org/drawingml/2006/main">
              <a:ext uri="{FF2B5EF4-FFF2-40B4-BE49-F238E27FC236}">
                <a16:creationId xmlns:a16="http://schemas.microsoft.com/office/drawing/2014/main" id="{24FCA368-73A3-4B27-AB7F-D8E99D7F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56247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정보를 안전하게 쓸 수 있나요?</a:t>
            </a:r>
          </a:p>
        </p:txBody>
      </p:sp>
      <p:sp>
        <p:nvSpPr>
          <p:cNvPr id="21" name="t43">
            <a:extLst xmlns:a="http://schemas.openxmlformats.org/drawingml/2006/main">
              <a:ext uri="{FF2B5EF4-FFF2-40B4-BE49-F238E27FC236}">
                <a16:creationId xmlns:a16="http://schemas.microsoft.com/office/drawing/2014/main" id="{2066C5A6-4805-4E6F-8094-3662A48E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29225"/>
            <a:ext cx="2314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나 · 특별 이사</a:t>
            </a:r>
          </a:p>
        </p:txBody>
      </p:sp>
      <p:sp>
        <p:nvSpPr>
          <p:cNvPr id="22" name="t44">
            <a:extLst xmlns:a="http://schemas.openxmlformats.org/drawingml/2006/main">
              <a:ext uri="{FF2B5EF4-FFF2-40B4-BE49-F238E27FC236}">
                <a16:creationId xmlns:a16="http://schemas.microsoft.com/office/drawing/2014/main" id="{DA9867B6-47EC-48E0-BBD3-2E1FEE9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229225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의견 종합·조건·표결</a:t>
            </a:r>
          </a:p>
        </p:txBody>
      </p:sp>
      <p:sp>
        <p:nvSpPr>
          <p:cNvPr id="23" name="t45">
            <a:extLst xmlns:a="http://schemas.openxmlformats.org/drawingml/2006/main">
              <a:ext uri="{FF2B5EF4-FFF2-40B4-BE49-F238E27FC236}">
                <a16:creationId xmlns:a16="http://schemas.microsoft.com/office/drawing/2014/main" id="{D4791AD8-FD8A-4C87-973B-607E08D4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229225"/>
            <a:ext cx="467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저는 이 근거로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532367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46">
            <a:extLst xmlns:a="http://schemas.openxmlformats.org/drawingml/2006/main">
              <a:ext uri="{FF2B5EF4-FFF2-40B4-BE49-F238E27FC236}">
                <a16:creationId xmlns:a16="http://schemas.microsoft.com/office/drawing/2014/main" id="{D1D8A8B7-C4DF-4E73-8123-255212E8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03  BOOTH CONCEPT</a:t>
            </a:r>
          </a:p>
        </p:txBody>
      </p:sp>
      <p:sp>
        <p:nvSpPr>
          <p:cNvPr id="2" name="t47">
            <a:extLst xmlns:a="http://schemas.openxmlformats.org/drawingml/2006/main">
              <a:ext uri="{FF2B5EF4-FFF2-40B4-BE49-F238E27FC236}">
                <a16:creationId xmlns:a16="http://schemas.microsoft.com/office/drawing/2014/main" id="{75FDBF0B-51AB-4986-99CE-5474C14B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부스에 들어서는 순간, 이사가 됩니다</a:t>
            </a:r>
          </a:p>
        </p:txBody>
      </p:sp>
      <p:sp>
        <p:nvSpPr>
          <p:cNvPr id="3" name="t48">
            <a:extLst xmlns:a="http://schemas.openxmlformats.org/drawingml/2006/main">
              <a:ext uri="{FF2B5EF4-FFF2-40B4-BE49-F238E27FC236}">
                <a16:creationId xmlns:a16="http://schemas.microsoft.com/office/drawing/2014/main" id="{3D5D2129-1DBD-4769-BECC-22D6D80E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49">
            <a:extLst xmlns:a="http://schemas.openxmlformats.org/drawingml/2006/main">
              <a:ext uri="{FF2B5EF4-FFF2-40B4-BE49-F238E27FC236}">
                <a16:creationId xmlns:a16="http://schemas.microsoft.com/office/drawing/2014/main" id="{6979F5B0-FBA0-4658-9CE2-8CCBA81E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t50">
            <a:extLst xmlns:a="http://schemas.openxmlformats.org/drawingml/2006/main">
              <a:ext uri="{FF2B5EF4-FFF2-40B4-BE49-F238E27FC236}">
                <a16:creationId xmlns:a16="http://schemas.microsoft.com/office/drawing/2014/main" id="{8B692B2E-217C-4CD9-887D-0A42862F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5740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대형 화면</a:t>
            </a:r>
          </a:p>
        </p:txBody>
      </p:sp>
      <p:sp>
        <p:nvSpPr>
          <p:cNvPr id="7" name="t51">
            <a:extLst xmlns:a="http://schemas.openxmlformats.org/drawingml/2006/main">
              <a:ext uri="{FF2B5EF4-FFF2-40B4-BE49-F238E27FC236}">
                <a16:creationId xmlns:a16="http://schemas.microsoft.com/office/drawing/2014/main" id="{65B35B64-1A7C-4900-B68B-FB6F145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241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공개용 진행·5인 표결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비실사 역할 아바타</a:t>
            </a:r>
          </a:p>
        </p:txBody>
      </p:sp>
      <p:sp>
        <p:nvSpPr>
          <p:cNvPr id="8" name="t52">
            <a:extLst xmlns:a="http://schemas.openxmlformats.org/drawingml/2006/main">
              <a:ext uri="{FF2B5EF4-FFF2-40B4-BE49-F238E27FC236}">
                <a16:creationId xmlns:a16="http://schemas.microsoft.com/office/drawing/2014/main" id="{E81A9338-9E73-4812-87E3-35057564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19500"/>
            <a:ext cx="2343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참가자 콘솔</a:t>
            </a:r>
          </a:p>
        </p:txBody>
      </p:sp>
      <p:sp>
        <p:nvSpPr>
          <p:cNvPr id="9" name="t53">
            <a:extLst xmlns:a="http://schemas.openxmlformats.org/drawingml/2006/main">
              <a:ext uri="{FF2B5EF4-FFF2-40B4-BE49-F238E27FC236}">
                <a16:creationId xmlns:a16="http://schemas.microsoft.com/office/drawing/2014/main" id="{E488900C-DFE3-42B6-8941-DE6778DF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86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PC 마우스로 클릭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직접 입력은 물리 키보드</a:t>
            </a:r>
          </a:p>
        </p:txBody>
      </p:sp>
      <p:sp>
        <p:nvSpPr>
          <p:cNvPr id="10" name="t54">
            <a:extLst xmlns:a="http://schemas.openxmlformats.org/drawingml/2006/main">
              <a:ext uri="{FF2B5EF4-FFF2-40B4-BE49-F238E27FC236}">
                <a16:creationId xmlns:a16="http://schemas.microsoft.com/office/drawing/2014/main" id="{6DD50E7F-EE83-4EBC-A68F-4BE0349E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76875"/>
            <a:ext cx="234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PC 1대 · 확장 화면 2개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관람 창은 운영자가 열기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612de4ca24eb9"/>
          <a:stretch xmlns:a="http://schemas.openxmlformats.org/drawingml/2006/main"/>
        </p:blipFill>
        <p:spPr>
          <a:xfrm xmlns:a="http://schemas.openxmlformats.org/drawingml/2006/main">
            <a:off x="533413" y="1705547"/>
            <a:ext cx="8172423" cy="45994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8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55">
            <a:extLst xmlns:a="http://schemas.openxmlformats.org/drawingml/2006/main">
              <a:ext uri="{FF2B5EF4-FFF2-40B4-BE49-F238E27FC236}">
                <a16:creationId xmlns:a16="http://schemas.microsoft.com/office/drawing/2014/main" id="{28B8F234-4727-44DD-87F3-F4A926CC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04  THREE AGENDAS</a:t>
            </a:r>
          </a:p>
        </p:txBody>
      </p:sp>
      <p:sp>
        <p:nvSpPr>
          <p:cNvPr id="2" name="t56">
            <a:extLst xmlns:a="http://schemas.openxmlformats.org/drawingml/2006/main">
              <a:ext uri="{FF2B5EF4-FFF2-40B4-BE49-F238E27FC236}">
                <a16:creationId xmlns:a16="http://schemas.microsoft.com/office/drawing/2014/main" id="{B7A82BA8-683C-49B3-B646-31D7C2D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관심 있는 안건 하나를 고릅니다</a:t>
            </a:r>
          </a:p>
        </p:txBody>
      </p:sp>
      <p:sp>
        <p:nvSpPr>
          <p:cNvPr id="3" name="t57">
            <a:extLst xmlns:a="http://schemas.openxmlformats.org/drawingml/2006/main">
              <a:ext uri="{FF2B5EF4-FFF2-40B4-BE49-F238E27FC236}">
                <a16:creationId xmlns:a16="http://schemas.microsoft.com/office/drawing/2014/main" id="{06798DAD-21C0-4674-BFF9-BAED6F4D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모든 안건은 체험용 가상 설정이며, 공통 4분 흐름을 사용합니다.</a:t>
            </a:r>
          </a:p>
        </p:txBody>
      </p:sp>
      <p:sp>
        <p:nvSpPr>
          <p:cNvPr id="4" name="t58">
            <a:extLst xmlns:a="http://schemas.openxmlformats.org/drawingml/2006/main">
              <a:ext uri="{FF2B5EF4-FFF2-40B4-BE49-F238E27FC236}">
                <a16:creationId xmlns:a16="http://schemas.microsoft.com/office/drawing/2014/main" id="{69ADCD81-4DEE-4B84-BD04-0D6F9B76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5" name="t59">
            <a:extLst xmlns:a="http://schemas.openxmlformats.org/drawingml/2006/main">
              <a:ext uri="{FF2B5EF4-FFF2-40B4-BE49-F238E27FC236}">
                <a16:creationId xmlns:a16="http://schemas.microsoft.com/office/drawing/2014/main" id="{4C06BA0F-8BCF-464F-9305-B2D20AA7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t60">
            <a:extLst xmlns:a="http://schemas.openxmlformats.org/drawingml/2006/main">
              <a:ext uri="{FF2B5EF4-FFF2-40B4-BE49-F238E27FC236}">
                <a16:creationId xmlns:a16="http://schemas.microsoft.com/office/drawing/2014/main" id="{37344235-5D37-44EC-9526-10507D1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027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61">
            <a:extLst xmlns:a="http://schemas.openxmlformats.org/drawingml/2006/main">
              <a:ext uri="{FF2B5EF4-FFF2-40B4-BE49-F238E27FC236}">
                <a16:creationId xmlns:a16="http://schemas.microsoft.com/office/drawing/2014/main" id="{8675EB48-BDE9-4239-8DF9-E10C0C4A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0027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고객 문의 대응 AI</a:t>
            </a:r>
          </a:p>
        </p:txBody>
      </p:sp>
      <p:sp>
        <p:nvSpPr>
          <p:cNvPr id="8" name="t62">
            <a:extLst xmlns:a="http://schemas.openxmlformats.org/drawingml/2006/main">
              <a:ext uri="{FF2B5EF4-FFF2-40B4-BE49-F238E27FC236}">
                <a16:creationId xmlns:a16="http://schemas.microsoft.com/office/drawing/2014/main" id="{76B447D3-17C0-4E65-8A9F-52944270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고객의 기다림을 줄여라</a:t>
            </a:r>
          </a:p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속도와 답변 신뢰를 함께 검토</a:t>
            </a:r>
          </a:p>
        </p:txBody>
      </p:sp>
      <p:sp>
        <p:nvSpPr>
          <p:cNvPr id="9" name="t63">
            <a:extLst xmlns:a="http://schemas.openxmlformats.org/drawingml/2006/main">
              <a:ext uri="{FF2B5EF4-FFF2-40B4-BE49-F238E27FC236}">
                <a16:creationId xmlns:a16="http://schemas.microsoft.com/office/drawing/2014/main" id="{56D8D3D1-B3EC-4759-81D0-C224BBF4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64">
            <a:extLst xmlns:a="http://schemas.openxmlformats.org/drawingml/2006/main">
              <a:ext uri="{FF2B5EF4-FFF2-40B4-BE49-F238E27FC236}">
                <a16:creationId xmlns:a16="http://schemas.microsoft.com/office/drawing/2014/main" id="{1E80CF7A-A46B-427A-9BE8-0DDDFCA9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AI 업무 비서</a:t>
            </a:r>
          </a:p>
        </p:txBody>
      </p:sp>
      <p:sp>
        <p:nvSpPr>
          <p:cNvPr id="11" name="t65">
            <a:extLst xmlns:a="http://schemas.openxmlformats.org/drawingml/2006/main">
              <a:ext uri="{FF2B5EF4-FFF2-40B4-BE49-F238E27FC236}">
                <a16:creationId xmlns:a16="http://schemas.microsoft.com/office/drawing/2014/main" id="{B10ED477-E10F-4097-A289-000AC1C5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62350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보고 준비 시간을 되찾아라</a:t>
            </a:r>
          </a:p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자료 취합·출처·접근 권한을 검토</a:t>
            </a:r>
          </a:p>
        </p:txBody>
      </p:sp>
      <p:sp>
        <p:nvSpPr>
          <p:cNvPr id="12" name="t66">
            <a:extLst xmlns:a="http://schemas.openxmlformats.org/drawingml/2006/main">
              <a:ext uri="{FF2B5EF4-FFF2-40B4-BE49-F238E27FC236}">
                <a16:creationId xmlns:a16="http://schemas.microsoft.com/office/drawing/2014/main" id="{D172AB82-1279-4430-90A8-4563684F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67">
            <a:extLst xmlns:a="http://schemas.openxmlformats.org/drawingml/2006/main">
              <a:ext uri="{FF2B5EF4-FFF2-40B4-BE49-F238E27FC236}">
                <a16:creationId xmlns:a16="http://schemas.microsoft.com/office/drawing/2014/main" id="{03F30D2A-FA97-4D73-8113-F51D0D3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482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AI 예방 서비스</a:t>
            </a:r>
          </a:p>
        </p:txBody>
      </p:sp>
      <p:sp>
        <p:nvSpPr>
          <p:cNvPr id="14" name="t68">
            <a:extLst xmlns:a="http://schemas.openxmlformats.org/drawingml/2006/main">
              <a:ext uri="{FF2B5EF4-FFF2-40B4-BE49-F238E27FC236}">
                <a16:creationId xmlns:a16="http://schemas.microsoft.com/office/drawing/2014/main" id="{85722CE6-10E1-4D37-99B7-589DCFE7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86325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검증한 AI 서비스를 어디까지 확대할까?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시범 운영 후 확대 규모·선검증 판단</a:t>
            </a:r>
          </a:p>
        </p:txBody>
      </p:sp>
    </p:spTree>
    <p:extLst>
      <p:ext uri="{BB962C8B-B14F-4D97-AF65-F5344CB8AC3E}">
        <p14:creationId xmlns:p14="http://schemas.microsoft.com/office/powerpoint/2010/main" val="1619910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69">
            <a:extLst xmlns:a="http://schemas.openxmlformats.org/drawingml/2006/main">
              <a:ext uri="{FF2B5EF4-FFF2-40B4-BE49-F238E27FC236}">
                <a16:creationId xmlns:a16="http://schemas.microsoft.com/office/drawing/2014/main" id="{A319BA09-64BA-48C4-B02E-DFEA13C0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05  PARTICIPANT JOURNEY</a:t>
            </a:r>
          </a:p>
        </p:txBody>
      </p:sp>
      <p:sp>
        <p:nvSpPr>
          <p:cNvPr id="2" name="t70">
            <a:extLst xmlns:a="http://schemas.openxmlformats.org/drawingml/2006/main">
              <a:ext uri="{FF2B5EF4-FFF2-40B4-BE49-F238E27FC236}">
                <a16:creationId xmlns:a16="http://schemas.microsoft.com/office/drawing/2014/main" id="{DDE53BAF-B6CB-4341-9272-5EDBEBC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4분 안에 듣고, 말하고, 투표합니다</a:t>
            </a:r>
          </a:p>
        </p:txBody>
      </p:sp>
      <p:sp>
        <p:nvSpPr>
          <p:cNvPr id="3" name="t71">
            <a:extLst xmlns:a="http://schemas.openxmlformats.org/drawingml/2006/main">
              <a:ext uri="{FF2B5EF4-FFF2-40B4-BE49-F238E27FC236}">
                <a16:creationId xmlns:a16="http://schemas.microsoft.com/office/drawing/2014/main" id="{4F8F9A18-467D-47B9-BC6D-442DE4C5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72">
            <a:extLst xmlns:a="http://schemas.openxmlformats.org/drawingml/2006/main">
              <a:ext uri="{FF2B5EF4-FFF2-40B4-BE49-F238E27FC236}">
                <a16:creationId xmlns:a16="http://schemas.microsoft.com/office/drawing/2014/main" id="{CC03739C-67BE-493D-AD86-3C6FFAD0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t73">
            <a:extLst xmlns:a="http://schemas.openxmlformats.org/drawingml/2006/main">
              <a:ext uri="{FF2B5EF4-FFF2-40B4-BE49-F238E27FC236}">
                <a16:creationId xmlns:a16="http://schemas.microsoft.com/office/drawing/2014/main" id="{EBC3E1C0-6BEA-4701-AFC4-821F7C35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경과 시간</a:t>
            </a:r>
          </a:p>
        </p:txBody>
      </p:sp>
      <p:sp>
        <p:nvSpPr>
          <p:cNvPr id="6" name="t74">
            <a:extLst xmlns:a="http://schemas.openxmlformats.org/drawingml/2006/main">
              <a:ext uri="{FF2B5EF4-FFF2-40B4-BE49-F238E27FC236}">
                <a16:creationId xmlns:a16="http://schemas.microsoft.com/office/drawing/2014/main" id="{2127C544-4EB6-4BA8-AB90-D77B215A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669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참가자 경험</a:t>
            </a:r>
          </a:p>
        </p:txBody>
      </p:sp>
      <p:sp>
        <p:nvSpPr>
          <p:cNvPr id="7" name="t75">
            <a:extLst xmlns:a="http://schemas.openxmlformats.org/drawingml/2006/main">
              <a:ext uri="{FF2B5EF4-FFF2-40B4-BE49-F238E27FC236}">
                <a16:creationId xmlns:a16="http://schemas.microsoft.com/office/drawing/2014/main" id="{F86F839F-1C6C-4D52-AD1F-CE74514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66925"/>
            <a:ext cx="531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화면에서 일어나는 일</a:t>
            </a:r>
          </a:p>
        </p:txBody>
      </p:sp>
      <p:sp>
        <p:nvSpPr>
          <p:cNvPr id="8" name="t76">
            <a:extLst xmlns:a="http://schemas.openxmlformats.org/drawingml/2006/main">
              <a:ext uri="{FF2B5EF4-FFF2-40B4-BE49-F238E27FC236}">
                <a16:creationId xmlns:a16="http://schemas.microsoft.com/office/drawing/2014/main" id="{2354CB80-F36A-4FA3-AFAC-AAA43F77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028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00:00–00:50</a:t>
            </a:r>
          </a:p>
        </p:txBody>
      </p:sp>
      <p:sp>
        <p:nvSpPr>
          <p:cNvPr id="9" name="t77">
            <a:extLst xmlns:a="http://schemas.openxmlformats.org/drawingml/2006/main">
              <a:ext uri="{FF2B5EF4-FFF2-40B4-BE49-F238E27FC236}">
                <a16:creationId xmlns:a16="http://schemas.microsoft.com/office/drawing/2014/main" id="{0071B21D-8FC4-46DA-BEA4-C1808C9D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19375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착석·안건 파악</a:t>
            </a:r>
          </a:p>
        </p:txBody>
      </p:sp>
      <p:sp>
        <p:nvSpPr>
          <p:cNvPr id="10" name="t78">
            <a:extLst xmlns:a="http://schemas.openxmlformats.org/drawingml/2006/main">
              <a:ext uri="{FF2B5EF4-FFF2-40B4-BE49-F238E27FC236}">
                <a16:creationId xmlns:a16="http://schemas.microsoft.com/office/drawing/2014/main" id="{78885AE5-5CC3-492F-98A2-FC75F936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19375"/>
            <a:ext cx="529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자료 4장 + AI 자동 정리 카드</a:t>
            </a:r>
          </a:p>
        </p:txBody>
      </p:sp>
      <p:sp>
        <p:nvSpPr>
          <p:cNvPr id="11" name="t79">
            <a:extLst xmlns:a="http://schemas.openxmlformats.org/drawingml/2006/main">
              <a:ext uri="{FF2B5EF4-FFF2-40B4-BE49-F238E27FC236}">
                <a16:creationId xmlns:a16="http://schemas.microsoft.com/office/drawing/2014/main" id="{6EE6548A-DAD4-488D-895A-503F88F4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3275"/>
            <a:ext cx="2028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00:50–01:30</a:t>
            </a:r>
          </a:p>
        </p:txBody>
      </p:sp>
      <p:sp>
        <p:nvSpPr>
          <p:cNvPr id="12" name="t80">
            <a:extLst xmlns:a="http://schemas.openxmlformats.org/drawingml/2006/main">
              <a:ext uri="{FF2B5EF4-FFF2-40B4-BE49-F238E27FC236}">
                <a16:creationId xmlns:a16="http://schemas.microsoft.com/office/drawing/2014/main" id="{FD2BFE93-0AA0-4240-81ED-307C97C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343275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임원 의견 확인</a:t>
            </a:r>
          </a:p>
        </p:txBody>
      </p:sp>
      <p:sp>
        <p:nvSpPr>
          <p:cNvPr id="13" name="t81">
            <a:extLst xmlns:a="http://schemas.openxmlformats.org/drawingml/2006/main">
              <a:ext uri="{FF2B5EF4-FFF2-40B4-BE49-F238E27FC236}">
                <a16:creationId xmlns:a16="http://schemas.microsoft.com/office/drawing/2014/main" id="{5164C277-A931-4399-919B-A201B3ED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43275"/>
            <a:ext cx="529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4명의 입장과 핵심 근거 비교</a:t>
            </a:r>
          </a:p>
        </p:txBody>
      </p:sp>
      <p:sp>
        <p:nvSpPr>
          <p:cNvPr id="14" name="t82">
            <a:extLst xmlns:a="http://schemas.openxmlformats.org/drawingml/2006/main">
              <a:ext uri="{FF2B5EF4-FFF2-40B4-BE49-F238E27FC236}">
                <a16:creationId xmlns:a16="http://schemas.microsoft.com/office/drawing/2014/main" id="{06A1109E-B170-47A7-8C24-A2278B8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2028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01:30–02:50</a:t>
            </a:r>
          </a:p>
        </p:txBody>
      </p:sp>
      <p:sp>
        <p:nvSpPr>
          <p:cNvPr id="15" name="t83">
            <a:extLst xmlns:a="http://schemas.openxmlformats.org/drawingml/2006/main">
              <a:ext uri="{FF2B5EF4-FFF2-40B4-BE49-F238E27FC236}">
                <a16:creationId xmlns:a16="http://schemas.microsoft.com/office/drawing/2014/main" id="{5839143D-A5C8-4143-9D98-F0B11BBE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67175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내 의견·후속 토론</a:t>
            </a:r>
          </a:p>
        </p:txBody>
      </p:sp>
      <p:sp>
        <p:nvSpPr>
          <p:cNvPr id="16" name="t84">
            <a:extLst xmlns:a="http://schemas.openxmlformats.org/drawingml/2006/main">
              <a:ext uri="{FF2B5EF4-FFF2-40B4-BE49-F238E27FC236}">
                <a16:creationId xmlns:a16="http://schemas.microsoft.com/office/drawing/2014/main" id="{459EB5AA-F23C-4A2B-8322-C60C9519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67175"/>
            <a:ext cx="529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의견 복수 선택·직접 입력, AI 도움</a:t>
            </a:r>
          </a:p>
        </p:txBody>
      </p:sp>
      <p:sp>
        <p:nvSpPr>
          <p:cNvPr id="17" name="t85">
            <a:extLst xmlns:a="http://schemas.openxmlformats.org/drawingml/2006/main">
              <a:ext uri="{FF2B5EF4-FFF2-40B4-BE49-F238E27FC236}">
                <a16:creationId xmlns:a16="http://schemas.microsoft.com/office/drawing/2014/main" id="{E83FB45A-D65E-435C-AE9A-CB423543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91075"/>
            <a:ext cx="2028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02:50–03:20</a:t>
            </a:r>
          </a:p>
        </p:txBody>
      </p:sp>
      <p:sp>
        <p:nvSpPr>
          <p:cNvPr id="18" name="t86">
            <a:extLst xmlns:a="http://schemas.openxmlformats.org/drawingml/2006/main">
              <a:ext uri="{FF2B5EF4-FFF2-40B4-BE49-F238E27FC236}">
                <a16:creationId xmlns:a16="http://schemas.microsoft.com/office/drawing/2014/main" id="{D88A07FE-C742-4DD3-BB6D-B2B05DD5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791075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최종 표결</a:t>
            </a:r>
          </a:p>
        </p:txBody>
      </p:sp>
      <p:sp>
        <p:nvSpPr>
          <p:cNvPr id="19" name="t87">
            <a:extLst xmlns:a="http://schemas.openxmlformats.org/drawingml/2006/main">
              <a:ext uri="{FF2B5EF4-FFF2-40B4-BE49-F238E27FC236}">
                <a16:creationId xmlns:a16="http://schemas.microsoft.com/office/drawing/2014/main" id="{AC525F01-509E-4B3A-9D0C-5495DA3C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91075"/>
            <a:ext cx="529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같은 의결 대상을 보고 한 표 행사</a:t>
            </a:r>
          </a:p>
        </p:txBody>
      </p:sp>
      <p:sp>
        <p:nvSpPr>
          <p:cNvPr id="20" name="t88">
            <a:extLst xmlns:a="http://schemas.openxmlformats.org/drawingml/2006/main">
              <a:ext uri="{FF2B5EF4-FFF2-40B4-BE49-F238E27FC236}">
                <a16:creationId xmlns:a16="http://schemas.microsoft.com/office/drawing/2014/main" id="{ED5A12F0-65A5-4D60-8E55-4872BBC2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2028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03:20–04:00</a:t>
            </a:r>
          </a:p>
        </p:txBody>
      </p:sp>
      <p:sp>
        <p:nvSpPr>
          <p:cNvPr id="21" name="t89">
            <a:extLst xmlns:a="http://schemas.openxmlformats.org/drawingml/2006/main">
              <a:ext uri="{FF2B5EF4-FFF2-40B4-BE49-F238E27FC236}">
                <a16:creationId xmlns:a16="http://schemas.microsoft.com/office/drawing/2014/main" id="{840FE653-08F7-43AA-BF83-06CA822C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514975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결론·참여 기록</a:t>
            </a:r>
          </a:p>
        </p:txBody>
      </p:sp>
      <p:sp>
        <p:nvSpPr>
          <p:cNvPr id="22" name="t90">
            <a:extLst xmlns:a="http://schemas.openxmlformats.org/drawingml/2006/main">
              <a:ext uri="{FF2B5EF4-FFF2-40B4-BE49-F238E27FC236}">
                <a16:creationId xmlns:a16="http://schemas.microsoft.com/office/drawing/2014/main" id="{8B865129-0B19-4386-B70D-DB15BF97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14975"/>
            <a:ext cx="529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5인 표결과 내 의견 반영 내역 공개</a:t>
            </a:r>
          </a:p>
        </p:txBody>
      </p:sp>
    </p:spTree>
    <p:extLst>
      <p:ext uri="{BB962C8B-B14F-4D97-AF65-F5344CB8AC3E}">
        <p14:creationId xmlns:p14="http://schemas.microsoft.com/office/powerpoint/2010/main" val="2015162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91">
            <a:extLst xmlns:a="http://schemas.openxmlformats.org/drawingml/2006/main">
              <a:ext uri="{FF2B5EF4-FFF2-40B4-BE49-F238E27FC236}">
                <a16:creationId xmlns:a16="http://schemas.microsoft.com/office/drawing/2014/main" id="{3388E676-A513-49A1-9AA9-A82DA338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06  SCREEN EXAMPLE · SELECT</a:t>
            </a:r>
          </a:p>
        </p:txBody>
      </p:sp>
      <p:sp>
        <p:nvSpPr>
          <p:cNvPr id="2" name="t92">
            <a:extLst xmlns:a="http://schemas.openxmlformats.org/drawingml/2006/main">
              <a:ext uri="{FF2B5EF4-FFF2-40B4-BE49-F238E27FC236}">
                <a16:creationId xmlns:a16="http://schemas.microsoft.com/office/drawing/2014/main" id="{B9D075EE-931C-4163-931B-4D4E1F1A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화면 ① 오늘 심의할 안건을 선택합니다</a:t>
            </a:r>
          </a:p>
        </p:txBody>
      </p:sp>
      <p:sp>
        <p:nvSpPr>
          <p:cNvPr id="3" name="t93">
            <a:extLst xmlns:a="http://schemas.openxmlformats.org/drawingml/2006/main">
              <a:ext uri="{FF2B5EF4-FFF2-40B4-BE49-F238E27FC236}">
                <a16:creationId xmlns:a16="http://schemas.microsoft.com/office/drawing/2014/main" id="{E1A43679-0456-4A65-B75B-D023D098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94">
            <a:extLst xmlns:a="http://schemas.openxmlformats.org/drawingml/2006/main">
              <a:ext uri="{FF2B5EF4-FFF2-40B4-BE49-F238E27FC236}">
                <a16:creationId xmlns:a16="http://schemas.microsoft.com/office/drawing/2014/main" id="{01E0F917-2AA9-470A-A867-3B59C24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t95">
            <a:extLst xmlns:a="http://schemas.openxmlformats.org/drawingml/2006/main">
              <a:ext uri="{FF2B5EF4-FFF2-40B4-BE49-F238E27FC236}">
                <a16:creationId xmlns:a16="http://schemas.microsoft.com/office/drawing/2014/main" id="{AA1B863B-E8F6-4943-87F4-B38907A2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478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참가자 행동</a:t>
            </a:r>
          </a:p>
        </p:txBody>
      </p:sp>
      <p:sp>
        <p:nvSpPr>
          <p:cNvPr id="7" name="t96">
            <a:extLst xmlns:a="http://schemas.openxmlformats.org/drawingml/2006/main">
              <a:ext uri="{FF2B5EF4-FFF2-40B4-BE49-F238E27FC236}">
                <a16:creationId xmlns:a16="http://schemas.microsoft.com/office/drawing/2014/main" id="{81E19F0B-35EA-4A9B-BAF9-54FCA45A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62225"/>
            <a:ext cx="2533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AI 업무 비서</a:t>
            </a:r>
          </a:p>
          <a:p xmlns:a="http://schemas.openxmlformats.org/drawingml/2006/main">
            <a:pPr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8" name="t97">
            <a:extLst xmlns:a="http://schemas.openxmlformats.org/drawingml/2006/main">
              <a:ext uri="{FF2B5EF4-FFF2-40B4-BE49-F238E27FC236}">
                <a16:creationId xmlns:a16="http://schemas.microsoft.com/office/drawing/2014/main" id="{07913219-D0F6-43C0-87F0-0A3DB366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05225"/>
            <a:ext cx="2533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이사회 입장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버튼 클릭</a:t>
            </a:r>
          </a:p>
        </p:txBody>
      </p:sp>
      <p:sp>
        <p:nvSpPr>
          <p:cNvPr id="9" name="t98">
            <a:extLst xmlns:a="http://schemas.openxmlformats.org/drawingml/2006/main">
              <a:ext uri="{FF2B5EF4-FFF2-40B4-BE49-F238E27FC236}">
                <a16:creationId xmlns:a16="http://schemas.microsoft.com/office/drawing/2014/main" id="{411A8975-2125-47E1-AEFE-D26CBE15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197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P1 완성 화면 예시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P0는 안건 ②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35a657857489d"/>
          <a:stretch xmlns:a="http://schemas.openxmlformats.org/drawingml/2006/main"/>
        </p:blipFill>
        <p:spPr>
          <a:xfrm xmlns:a="http://schemas.openxmlformats.org/drawingml/2006/main">
            <a:off x="533508" y="1704975"/>
            <a:ext cx="8191379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3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91">
            <a:extLst xmlns:a="http://schemas.openxmlformats.org/drawingml/2006/main">
              <a:ext uri="{FF2B5EF4-FFF2-40B4-BE49-F238E27FC236}">
                <a16:creationId xmlns:a16="http://schemas.microsoft.com/office/drawing/2014/main" id="{3388E676-A513-49A1-9AA9-A82DA338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SCREEN EXAMPLE · BRIEFING</a:t>
            </a:r>
          </a:p>
        </p:txBody>
      </p:sp>
      <p:sp>
        <p:nvSpPr>
          <p:cNvPr id="2" name="t92">
            <a:extLst xmlns:a="http://schemas.openxmlformats.org/drawingml/2006/main">
              <a:ext uri="{FF2B5EF4-FFF2-40B4-BE49-F238E27FC236}">
                <a16:creationId xmlns:a16="http://schemas.microsoft.com/office/drawing/2014/main" id="{B9D075EE-931C-4163-931B-4D4E1F1A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화면 ② 자료 옆에서 AI 정리를 바로 봅니다</a:t>
            </a:r>
          </a:p>
        </p:txBody>
      </p:sp>
      <p:sp>
        <p:nvSpPr>
          <p:cNvPr id="3" name="t93">
            <a:extLst xmlns:a="http://schemas.openxmlformats.org/drawingml/2006/main">
              <a:ext uri="{FF2B5EF4-FFF2-40B4-BE49-F238E27FC236}">
                <a16:creationId xmlns:a16="http://schemas.microsoft.com/office/drawing/2014/main" id="{E1A43679-0456-4A65-B75B-D023D098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94">
            <a:extLst xmlns:a="http://schemas.openxmlformats.org/drawingml/2006/main">
              <a:ext uri="{FF2B5EF4-FFF2-40B4-BE49-F238E27FC236}">
                <a16:creationId xmlns:a16="http://schemas.microsoft.com/office/drawing/2014/main" id="{01E0F917-2AA9-470A-A867-3B59C24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t95">
            <a:extLst xmlns:a="http://schemas.openxmlformats.org/drawingml/2006/main">
              <a:ext uri="{FF2B5EF4-FFF2-40B4-BE49-F238E27FC236}">
                <a16:creationId xmlns:a16="http://schemas.microsoft.com/office/drawing/2014/main" id="{AA1B863B-E8F6-4943-87F4-B38907A2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478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자동 AI 경험</a:t>
            </a:r>
          </a:p>
        </p:txBody>
      </p:sp>
      <p:sp>
        <p:nvSpPr>
          <p:cNvPr id="7" name="t96">
            <a:extLst xmlns:a="http://schemas.openxmlformats.org/drawingml/2006/main">
              <a:ext uri="{FF2B5EF4-FFF2-40B4-BE49-F238E27FC236}">
                <a16:creationId xmlns:a16="http://schemas.microsoft.com/office/drawing/2014/main" id="{81E19F0B-35EA-4A9B-BAF9-54FCA45A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62225"/>
            <a:ext cx="2533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자료 4장 +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AI 정리 카드 1장</a:t>
            </a:r>
          </a:p>
        </p:txBody>
      </p:sp>
      <p:sp>
        <p:nvSpPr>
          <p:cNvPr id="8" name="t97">
            <a:extLst xmlns:a="http://schemas.openxmlformats.org/drawingml/2006/main">
              <a:ext uri="{FF2B5EF4-FFF2-40B4-BE49-F238E27FC236}">
                <a16:creationId xmlns:a16="http://schemas.microsoft.com/office/drawing/2014/main" id="{07913219-D0F6-43C0-87F0-0A3DB366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05225"/>
            <a:ext cx="2533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기준일·검토 상태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차이를 확인</a:t>
            </a:r>
          </a:p>
        </p:txBody>
      </p:sp>
      <p:sp>
        <p:nvSpPr>
          <p:cNvPr id="9" name="t98">
            <a:extLst xmlns:a="http://schemas.openxmlformats.org/drawingml/2006/main">
              <a:ext uri="{FF2B5EF4-FFF2-40B4-BE49-F238E27FC236}">
                <a16:creationId xmlns:a16="http://schemas.microsoft.com/office/drawing/2014/main" id="{411A8975-2125-47E1-AEFE-D26CBE15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197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체험용 사전 구성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결과에도 사용 기록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75e729934408a"/>
          <a:stretch xmlns:a="http://schemas.openxmlformats.org/drawingml/2006/main"/>
        </p:blipFill>
        <p:spPr>
          <a:xfrm xmlns:a="http://schemas.openxmlformats.org/drawingml/2006/main">
            <a:off x="533508" y="1704975"/>
            <a:ext cx="8191379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3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99">
            <a:extLst xmlns:a="http://schemas.openxmlformats.org/drawingml/2006/main">
              <a:ext uri="{FF2B5EF4-FFF2-40B4-BE49-F238E27FC236}">
                <a16:creationId xmlns:a16="http://schemas.microsoft.com/office/drawing/2014/main" id="{C671BD23-1F0B-4030-A1DA-F25D00C5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07  SCREEN EXAMPLE · DISCUSS</a:t>
            </a:r>
          </a:p>
        </p:txBody>
      </p:sp>
      <p:sp>
        <p:nvSpPr>
          <p:cNvPr id="2" name="t100">
            <a:extLst xmlns:a="http://schemas.openxmlformats.org/drawingml/2006/main">
              <a:ext uri="{FF2B5EF4-FFF2-40B4-BE49-F238E27FC236}">
                <a16:creationId xmlns:a16="http://schemas.microsoft.com/office/drawing/2014/main" id="{E9A005AA-F6E1-4D46-BE16-79106C97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화면 ③ 문구를 고르거나 직접 의견을 씁니다</a:t>
            </a:r>
          </a:p>
        </p:txBody>
      </p:sp>
      <p:sp>
        <p:nvSpPr>
          <p:cNvPr id="3" name="t101">
            <a:extLst xmlns:a="http://schemas.openxmlformats.org/drawingml/2006/main">
              <a:ext uri="{FF2B5EF4-FFF2-40B4-BE49-F238E27FC236}">
                <a16:creationId xmlns:a16="http://schemas.microsoft.com/office/drawing/2014/main" id="{8ED57F7D-952C-44E6-A53C-5FD75CA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102">
            <a:extLst xmlns:a="http://schemas.openxmlformats.org/drawingml/2006/main">
              <a:ext uri="{FF2B5EF4-FFF2-40B4-BE49-F238E27FC236}">
                <a16:creationId xmlns:a16="http://schemas.microsoft.com/office/drawing/2014/main" id="{CBEF7D9D-1B96-4482-83B7-2A9CC92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t103">
            <a:extLst xmlns:a="http://schemas.openxmlformats.org/drawingml/2006/main">
              <a:ext uri="{FF2B5EF4-FFF2-40B4-BE49-F238E27FC236}">
                <a16:creationId xmlns:a16="http://schemas.microsoft.com/office/drawing/2014/main" id="{5BC49686-E800-4CA4-9146-A4B7877B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478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참가자 행동</a:t>
            </a:r>
          </a:p>
        </p:txBody>
      </p:sp>
      <p:sp>
        <p:nvSpPr>
          <p:cNvPr id="7" name="t104">
            <a:extLst xmlns:a="http://schemas.openxmlformats.org/drawingml/2006/main">
              <a:ext uri="{FF2B5EF4-FFF2-40B4-BE49-F238E27FC236}">
                <a16:creationId xmlns:a16="http://schemas.microsoft.com/office/drawing/2014/main" id="{F7F41B79-3FCD-4E24-9DFA-EBE0345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62225"/>
            <a:ext cx="2533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추천 문구 6개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복수 선택</a:t>
            </a:r>
          </a:p>
        </p:txBody>
      </p:sp>
      <p:sp>
        <p:nvSpPr>
          <p:cNvPr id="8" name="t105">
            <a:extLst xmlns:a="http://schemas.openxmlformats.org/drawingml/2006/main">
              <a:ext uri="{FF2B5EF4-FFF2-40B4-BE49-F238E27FC236}">
                <a16:creationId xmlns:a16="http://schemas.microsoft.com/office/drawing/2014/main" id="{D94DFCAA-4CD4-4D4E-940E-41BC135B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05225"/>
            <a:ext cx="2533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300자 입력·수정 후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의견 전달</a:t>
            </a:r>
          </a:p>
        </p:txBody>
      </p:sp>
      <p:sp>
        <p:nvSpPr>
          <p:cNvPr id="9" name="t106">
            <a:extLst xmlns:a="http://schemas.openxmlformats.org/drawingml/2006/main">
              <a:ext uri="{FF2B5EF4-FFF2-40B4-BE49-F238E27FC236}">
                <a16:creationId xmlns:a16="http://schemas.microsoft.com/office/drawing/2014/main" id="{368C9DEB-53E6-4246-AA64-0C5792A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197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토론 단계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투표 집계 없음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79fd01d514203"/>
          <a:stretch xmlns:a="http://schemas.openxmlformats.org/drawingml/2006/main"/>
        </p:blipFill>
        <p:spPr>
          <a:xfrm xmlns:a="http://schemas.openxmlformats.org/drawingml/2006/main">
            <a:off x="533508" y="1704975"/>
            <a:ext cx="8191379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400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107">
            <a:extLst xmlns:a="http://schemas.openxmlformats.org/drawingml/2006/main">
              <a:ext uri="{FF2B5EF4-FFF2-40B4-BE49-F238E27FC236}">
                <a16:creationId xmlns:a16="http://schemas.microsoft.com/office/drawing/2014/main" id="{FBA41F57-FEB9-46F7-88EF-CB336B4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08  AI ASSISTANCE</a:t>
            </a:r>
          </a:p>
        </p:txBody>
      </p:sp>
      <p:sp>
        <p:nvSpPr>
          <p:cNvPr id="2" name="t108">
            <a:extLst xmlns:a="http://schemas.openxmlformats.org/drawingml/2006/main">
              <a:ext uri="{FF2B5EF4-FFF2-40B4-BE49-F238E27FC236}">
                <a16:creationId xmlns:a16="http://schemas.microsoft.com/office/drawing/2014/main" id="{DEF01DE2-8EF5-4087-8F56-015536D0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AI는 판단에 필요한 내용을 정리합니다</a:t>
            </a:r>
          </a:p>
        </p:txBody>
      </p:sp>
      <p:sp>
        <p:nvSpPr>
          <p:cNvPr id="3" name="t109">
            <a:extLst xmlns:a="http://schemas.openxmlformats.org/drawingml/2006/main">
              <a:ext uri="{FF2B5EF4-FFF2-40B4-BE49-F238E27FC236}">
                <a16:creationId xmlns:a16="http://schemas.microsoft.com/office/drawing/2014/main" id="{1EEFEEEA-093C-45DC-9370-92F87E84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자료 정리는 항상 표시합니다. 추가 도움은 선택하며, AI는 표결하지 않습니다.</a:t>
            </a:r>
          </a:p>
        </p:txBody>
      </p:sp>
      <p:sp>
        <p:nvSpPr>
          <p:cNvPr id="4" name="t110">
            <a:extLst xmlns:a="http://schemas.openxmlformats.org/drawingml/2006/main">
              <a:ext uri="{FF2B5EF4-FFF2-40B4-BE49-F238E27FC236}">
                <a16:creationId xmlns:a16="http://schemas.microsoft.com/office/drawing/2014/main" id="{D6C7890C-9D79-47FF-A393-C9247340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5" name="t111">
            <a:extLst xmlns:a="http://schemas.openxmlformats.org/drawingml/2006/main">
              <a:ext uri="{FF2B5EF4-FFF2-40B4-BE49-F238E27FC236}">
                <a16:creationId xmlns:a16="http://schemas.microsoft.com/office/drawing/2014/main" id="{D93E0C87-A213-471E-80BC-8654143F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t112">
            <a:extLst xmlns:a="http://schemas.openxmlformats.org/drawingml/2006/main">
              <a:ext uri="{FF2B5EF4-FFF2-40B4-BE49-F238E27FC236}">
                <a16:creationId xmlns:a16="http://schemas.microsoft.com/office/drawing/2014/main" id="{E3FF3BFC-0624-4C6F-BECA-33500561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기능</a:t>
            </a:r>
          </a:p>
        </p:txBody>
      </p:sp>
      <p:sp>
        <p:nvSpPr>
          <p:cNvPr id="7" name="t113">
            <a:extLst xmlns:a="http://schemas.openxmlformats.org/drawingml/2006/main">
              <a:ext uri="{FF2B5EF4-FFF2-40B4-BE49-F238E27FC236}">
                <a16:creationId xmlns:a16="http://schemas.microsoft.com/office/drawing/2014/main" id="{CDF041AD-AA98-4538-A796-E477A24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7658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AI가 보여주는 내용</a:t>
            </a:r>
          </a:p>
        </p:txBody>
      </p:sp>
      <p:sp>
        <p:nvSpPr>
          <p:cNvPr id="8" name="t114">
            <a:extLst xmlns:a="http://schemas.openxmlformats.org/drawingml/2006/main">
              <a:ext uri="{FF2B5EF4-FFF2-40B4-BE49-F238E27FC236}">
                <a16:creationId xmlns:a16="http://schemas.microsoft.com/office/drawing/2014/main" id="{0F45B9A0-56CF-4040-9950-547AE184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t115">
            <a:extLst xmlns:a="http://schemas.openxmlformats.org/drawingml/2006/main">
              <a:ext uri="{FF2B5EF4-FFF2-40B4-BE49-F238E27FC236}">
                <a16:creationId xmlns:a16="http://schemas.microsoft.com/office/drawing/2014/main" id="{39520533-B46B-4949-B14B-269BB0FD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746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116">
            <a:extLst xmlns:a="http://schemas.openxmlformats.org/drawingml/2006/main">
              <a:ext uri="{FF2B5EF4-FFF2-40B4-BE49-F238E27FC236}">
                <a16:creationId xmlns:a16="http://schemas.microsoft.com/office/drawing/2014/main" id="{E7215CDC-1B59-4E7B-BDAA-A7619536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자동 자료 정리</a:t>
            </a:r>
          </a:p>
        </p:txBody>
      </p:sp>
      <p:sp>
        <p:nvSpPr>
          <p:cNvPr id="11" name="t117">
            <a:extLst xmlns:a="http://schemas.openxmlformats.org/drawingml/2006/main">
              <a:ext uri="{FF2B5EF4-FFF2-40B4-BE49-F238E27FC236}">
                <a16:creationId xmlns:a16="http://schemas.microsoft.com/office/drawing/2014/main" id="{0A79A193-E338-4515-B2B4-C846FD99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7448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자료 4장의 수치·기준일·검토 상태 비교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항상 표시 · 체험용 사전 구성</a:t>
            </a:r>
          </a:p>
        </p:txBody>
      </p:sp>
      <p:sp>
        <p:nvSpPr>
          <p:cNvPr id="12" name="t118">
            <a:extLst xmlns:a="http://schemas.openxmlformats.org/drawingml/2006/main">
              <a:ext uri="{FF2B5EF4-FFF2-40B4-BE49-F238E27FC236}">
                <a16:creationId xmlns:a16="http://schemas.microsoft.com/office/drawing/2014/main" id="{BC5D63A0-D47F-473C-8550-AF57EC7B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조건 비교하기</a:t>
            </a:r>
          </a:p>
        </p:txBody>
      </p:sp>
      <p:sp>
        <p:nvSpPr>
          <p:cNvPr id="13" name="t119">
            <a:extLst xmlns:a="http://schemas.openxmlformats.org/drawingml/2006/main">
              <a:ext uri="{FF2B5EF4-FFF2-40B4-BE49-F238E27FC236}">
                <a16:creationId xmlns:a16="http://schemas.microsoft.com/office/drawing/2014/main" id="{28337A87-DC01-4273-AA1A-03C33FE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7448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자동 공유와 담당자 검토 후 공유의</a:t>
            </a:r>
          </a:p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기대 효과·부담·남은 조건 비교</a:t>
            </a:r>
          </a:p>
        </p:txBody>
      </p:sp>
      <p:sp>
        <p:nvSpPr>
          <p:cNvPr id="14" name="t120">
            <a:extLst xmlns:a="http://schemas.openxmlformats.org/drawingml/2006/main">
              <a:ext uri="{FF2B5EF4-FFF2-40B4-BE49-F238E27FC236}">
                <a16:creationId xmlns:a16="http://schemas.microsoft.com/office/drawing/2014/main" id="{1BFAE109-1F52-45BC-8685-2BACA85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내 발언 정리 (P2)</a:t>
            </a:r>
          </a:p>
        </p:txBody>
      </p:sp>
      <p:sp>
        <p:nvSpPr>
          <p:cNvPr id="15" name="t121">
            <a:extLst xmlns:a="http://schemas.openxmlformats.org/drawingml/2006/main">
              <a:ext uri="{FF2B5EF4-FFF2-40B4-BE49-F238E27FC236}">
                <a16:creationId xmlns:a16="http://schemas.microsoft.com/office/drawing/2014/main" id="{AD1167B9-1D0A-4992-B933-0235AC50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7448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실제 AI 연결은 선택 · 원문 보존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응답 실패 시 원문으로 계속 진행</a:t>
            </a:r>
          </a:p>
        </p:txBody>
      </p:sp>
    </p:spTree>
    <p:extLst>
      <p:ext uri="{BB962C8B-B14F-4D97-AF65-F5344CB8AC3E}">
        <p14:creationId xmlns:p14="http://schemas.microsoft.com/office/powerpoint/2010/main" val="16294580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122">
            <a:extLst xmlns:a="http://schemas.openxmlformats.org/drawingml/2006/main">
              <a:ext uri="{FF2B5EF4-FFF2-40B4-BE49-F238E27FC236}">
                <a16:creationId xmlns:a16="http://schemas.microsoft.com/office/drawing/2014/main" id="{92AD85EC-D997-40D7-8077-BDB0BA4B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09  EXAMPLE DIALOGUE</a:t>
            </a:r>
          </a:p>
        </p:txBody>
      </p:sp>
      <p:sp>
        <p:nvSpPr>
          <p:cNvPr id="2" name="t123">
            <a:extLst xmlns:a="http://schemas.openxmlformats.org/drawingml/2006/main">
              <a:ext uri="{FF2B5EF4-FFF2-40B4-BE49-F238E27FC236}">
                <a16:creationId xmlns:a16="http://schemas.microsoft.com/office/drawing/2014/main" id="{53ABFFA8-65EE-417D-99E3-C5256CC3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내 조건에 따라 임원의 의견이 달라집니다</a:t>
            </a:r>
          </a:p>
        </p:txBody>
      </p:sp>
      <p:sp>
        <p:nvSpPr>
          <p:cNvPr id="3" name="t124">
            <a:extLst xmlns:a="http://schemas.openxmlformats.org/drawingml/2006/main">
              <a:ext uri="{FF2B5EF4-FFF2-40B4-BE49-F238E27FC236}">
                <a16:creationId xmlns:a16="http://schemas.microsoft.com/office/drawing/2014/main" id="{D1DA0D0F-DA53-4C15-AE10-793B085F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안건 ② · AI 업무 비서 / 문구 선택과 직접 입력으로 의견을 전달한 예시</a:t>
            </a:r>
          </a:p>
        </p:txBody>
      </p:sp>
      <p:sp>
        <p:nvSpPr>
          <p:cNvPr id="4" name="t125">
            <a:extLst xmlns:a="http://schemas.openxmlformats.org/drawingml/2006/main">
              <a:ext uri="{FF2B5EF4-FFF2-40B4-BE49-F238E27FC236}">
                <a16:creationId xmlns:a16="http://schemas.microsoft.com/office/drawing/2014/main" id="{20BFB59D-EFBD-4009-8AEA-572246CC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5" name="t126">
            <a:extLst xmlns:a="http://schemas.openxmlformats.org/drawingml/2006/main">
              <a:ext uri="{FF2B5EF4-FFF2-40B4-BE49-F238E27FC236}">
                <a16:creationId xmlns:a16="http://schemas.microsoft.com/office/drawing/2014/main" id="{AF3DCEF9-30BA-4962-86F0-AD5D14FE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t127">
            <a:extLst xmlns:a="http://schemas.openxmlformats.org/drawingml/2006/main">
              <a:ext uri="{FF2B5EF4-FFF2-40B4-BE49-F238E27FC236}">
                <a16:creationId xmlns:a16="http://schemas.microsoft.com/office/drawing/2014/main" id="{740C7F19-9C88-45A5-89D7-15D7BAE6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나 · 특별 이사</a:t>
            </a:r>
          </a:p>
        </p:txBody>
      </p:sp>
      <p:sp>
        <p:nvSpPr>
          <p:cNvPr id="7" name="t128">
            <a:extLst xmlns:a="http://schemas.openxmlformats.org/drawingml/2006/main">
              <a:ext uri="{FF2B5EF4-FFF2-40B4-BE49-F238E27FC236}">
                <a16:creationId xmlns:a16="http://schemas.microsoft.com/office/drawing/2014/main" id="{56BAD917-B47A-49EC-81C0-EED87F8B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“주간 보고부터, 출처 표시·담당자 검토·권한 확인 후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시작하고 준비시간·수정량을 측정합시다.”</a:t>
            </a:r>
          </a:p>
        </p:txBody>
      </p:sp>
      <p:sp>
        <p:nvSpPr>
          <p:cNvPr id="8" name="t129">
            <a:extLst xmlns:a="http://schemas.openxmlformats.org/drawingml/2006/main">
              <a:ext uri="{FF2B5EF4-FFF2-40B4-BE49-F238E27FC236}">
                <a16:creationId xmlns:a16="http://schemas.microsoft.com/office/drawing/2014/main" id="{23D93A0B-0F6A-47B3-A923-6FB1436C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CIO</a:t>
            </a:r>
          </a:p>
        </p:txBody>
      </p:sp>
      <p:sp>
        <p:nvSpPr>
          <p:cNvPr id="9" name="t130">
            <a:extLst xmlns:a="http://schemas.openxmlformats.org/drawingml/2006/main">
              <a:ext uri="{FF2B5EF4-FFF2-40B4-BE49-F238E27FC236}">
                <a16:creationId xmlns:a16="http://schemas.microsoft.com/office/drawing/2014/main" id="{C072026B-AC50-4070-A93C-A348002D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“출처와 검토 절차를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운영에 반영합시다.”</a:t>
            </a:r>
          </a:p>
        </p:txBody>
      </p:sp>
      <p:sp>
        <p:nvSpPr>
          <p:cNvPr id="10" name="t131">
            <a:extLst xmlns:a="http://schemas.openxmlformats.org/drawingml/2006/main">
              <a:ext uri="{FF2B5EF4-FFF2-40B4-BE49-F238E27FC236}">
                <a16:creationId xmlns:a16="http://schemas.microsoft.com/office/drawing/2014/main" id="{44C926E7-DDA1-41DF-982A-C5CEA40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CFO · CAIO</a:t>
            </a:r>
          </a:p>
        </p:txBody>
      </p:sp>
      <p:sp>
        <p:nvSpPr>
          <p:cNvPr id="11" name="t132">
            <a:extLst xmlns:a="http://schemas.openxmlformats.org/drawingml/2006/main">
              <a:ext uri="{FF2B5EF4-FFF2-40B4-BE49-F238E27FC236}">
                <a16:creationId xmlns:a16="http://schemas.microsoft.com/office/drawing/2014/main" id="{4C6975BF-37B8-4026-B1F6-8C71C92A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339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“작게 시작하며</a:t>
            </a:r>
          </a:p>
          <a:p xmlns:a="http://schemas.openxmlformats.org/drawingml/2006/main">
            <a:pPr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효과를 확인합시다.”</a:t>
            </a:r>
          </a:p>
        </p:txBody>
      </p:sp>
      <p:sp>
        <p:nvSpPr>
          <p:cNvPr id="12" name="t133">
            <a:extLst xmlns:a="http://schemas.openxmlformats.org/drawingml/2006/main">
              <a:ext uri="{FF2B5EF4-FFF2-40B4-BE49-F238E27FC236}">
                <a16:creationId xmlns:a16="http://schemas.microsoft.com/office/drawing/2014/main" id="{05C739B4-CD3F-46BE-AD3D-5590725E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38650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CISO</a:t>
            </a:r>
          </a:p>
        </p:txBody>
      </p:sp>
      <p:sp>
        <p:nvSpPr>
          <p:cNvPr id="13" name="t134">
            <a:extLst xmlns:a="http://schemas.openxmlformats.org/drawingml/2006/main">
              <a:ext uri="{FF2B5EF4-FFF2-40B4-BE49-F238E27FC236}">
                <a16:creationId xmlns:a16="http://schemas.microsoft.com/office/drawing/2014/main" id="{1A1DCFC4-C3FE-4520-8733-9D85290D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“검토와 접근 범위를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확인하고 시작합시다.”</a:t>
            </a:r>
          </a:p>
        </p:txBody>
      </p:sp>
    </p:spTree>
    <p:extLst>
      <p:ext uri="{BB962C8B-B14F-4D97-AF65-F5344CB8AC3E}">
        <p14:creationId xmlns:p14="http://schemas.microsoft.com/office/powerpoint/2010/main" val="3341891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99">
            <a:extLst xmlns:a="http://schemas.openxmlformats.org/drawingml/2006/main">
              <a:ext uri="{FF2B5EF4-FFF2-40B4-BE49-F238E27FC236}">
                <a16:creationId xmlns:a16="http://schemas.microsoft.com/office/drawing/2014/main" id="{C671BD23-1F0B-4030-A1DA-F25D00C5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10  SCREEN EXAMPLE · VOTE</a:t>
            </a:r>
          </a:p>
        </p:txBody>
      </p:sp>
      <p:sp>
        <p:nvSpPr>
          <p:cNvPr id="2" name="t100">
            <a:extLst xmlns:a="http://schemas.openxmlformats.org/drawingml/2006/main">
              <a:ext uri="{FF2B5EF4-FFF2-40B4-BE49-F238E27FC236}">
                <a16:creationId xmlns:a16="http://schemas.microsoft.com/office/drawing/2014/main" id="{E9A005AA-F6E1-4D46-BE16-79106C97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화면 ④ 토론이 끝난 뒤 최종 투표합니다</a:t>
            </a:r>
          </a:p>
        </p:txBody>
      </p:sp>
      <p:sp>
        <p:nvSpPr>
          <p:cNvPr id="3" name="t101">
            <a:extLst xmlns:a="http://schemas.openxmlformats.org/drawingml/2006/main">
              <a:ext uri="{FF2B5EF4-FFF2-40B4-BE49-F238E27FC236}">
                <a16:creationId xmlns:a16="http://schemas.microsoft.com/office/drawing/2014/main" id="{8ED57F7D-952C-44E6-A53C-5FD75CA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102">
            <a:extLst xmlns:a="http://schemas.openxmlformats.org/drawingml/2006/main">
              <a:ext uri="{FF2B5EF4-FFF2-40B4-BE49-F238E27FC236}">
                <a16:creationId xmlns:a16="http://schemas.microsoft.com/office/drawing/2014/main" id="{CBEF7D9D-1B96-4482-83B7-2A9CC92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t103">
            <a:extLst xmlns:a="http://schemas.openxmlformats.org/drawingml/2006/main">
              <a:ext uri="{FF2B5EF4-FFF2-40B4-BE49-F238E27FC236}">
                <a16:creationId xmlns:a16="http://schemas.microsoft.com/office/drawing/2014/main" id="{5BC49686-E800-4CA4-9146-A4B7877B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478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마지막 의사결정</a:t>
            </a:r>
          </a:p>
        </p:txBody>
      </p:sp>
      <p:sp>
        <p:nvSpPr>
          <p:cNvPr id="7" name="t104">
            <a:extLst xmlns:a="http://schemas.openxmlformats.org/drawingml/2006/main">
              <a:ext uri="{FF2B5EF4-FFF2-40B4-BE49-F238E27FC236}">
                <a16:creationId xmlns:a16="http://schemas.microsoft.com/office/drawing/2014/main" id="{F7F41B79-3FCD-4E24-9DFA-EBE0345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62225"/>
            <a:ext cx="2533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최종 안건·조건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먼저 확인</a:t>
            </a:r>
          </a:p>
        </p:txBody>
      </p:sp>
      <p:sp>
        <p:nvSpPr>
          <p:cNvPr id="8" name="t105">
            <a:extLst xmlns:a="http://schemas.openxmlformats.org/drawingml/2006/main">
              <a:ext uri="{FF2B5EF4-FFF2-40B4-BE49-F238E27FC236}">
                <a16:creationId xmlns:a16="http://schemas.microsoft.com/office/drawing/2014/main" id="{D94DFCAA-4CD4-4D4E-940E-41BC135B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05225"/>
            <a:ext cx="2533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찬성·보류·반대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하나 선택 후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최종 투표 확정</a:t>
            </a:r>
          </a:p>
        </p:txBody>
      </p:sp>
      <p:sp>
        <p:nvSpPr>
          <p:cNvPr id="9" name="t106">
            <a:extLst xmlns:a="http://schemas.openxmlformats.org/drawingml/2006/main">
              <a:ext uri="{FF2B5EF4-FFF2-40B4-BE49-F238E27FC236}">
                <a16:creationId xmlns:a16="http://schemas.microsoft.com/office/drawing/2014/main" id="{368C9DEB-53E6-4246-AA64-0C5792A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197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의견 전달과 분리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개발 전 화면 목업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ea6ea5b994de5"/>
          <a:stretch xmlns:a="http://schemas.openxmlformats.org/drawingml/2006/main"/>
        </p:blipFill>
        <p:spPr>
          <a:xfrm xmlns:a="http://schemas.openxmlformats.org/drawingml/2006/main">
            <a:off x="533508" y="1704975"/>
            <a:ext cx="8191379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40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135">
            <a:extLst xmlns:a="http://schemas.openxmlformats.org/drawingml/2006/main">
              <a:ext uri="{FF2B5EF4-FFF2-40B4-BE49-F238E27FC236}">
                <a16:creationId xmlns:a16="http://schemas.microsoft.com/office/drawing/2014/main" id="{99493575-DCB2-4F0D-941E-DD58FFD4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11  SCREEN EXAMPLE · RESULT</a:t>
            </a:r>
          </a:p>
        </p:txBody>
      </p:sp>
      <p:sp>
        <p:nvSpPr>
          <p:cNvPr id="2" name="t136">
            <a:extLst xmlns:a="http://schemas.openxmlformats.org/drawingml/2006/main">
              <a:ext uri="{FF2B5EF4-FFF2-40B4-BE49-F238E27FC236}">
                <a16:creationId xmlns:a16="http://schemas.microsoft.com/office/drawing/2014/main" id="{CBA8D083-F9D5-4A4E-9EE4-DE0454BA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화면 ⑤ 표결과 내 의견 반영 내역을 봅니다</a:t>
            </a:r>
          </a:p>
        </p:txBody>
      </p:sp>
      <p:sp>
        <p:nvSpPr>
          <p:cNvPr id="3" name="t137">
            <a:extLst xmlns:a="http://schemas.openxmlformats.org/drawingml/2006/main">
              <a:ext uri="{FF2B5EF4-FFF2-40B4-BE49-F238E27FC236}">
                <a16:creationId xmlns:a16="http://schemas.microsoft.com/office/drawing/2014/main" id="{BA5C6B2A-C852-43C3-B500-A09F7077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138">
            <a:extLst xmlns:a="http://schemas.openxmlformats.org/drawingml/2006/main">
              <a:ext uri="{FF2B5EF4-FFF2-40B4-BE49-F238E27FC236}">
                <a16:creationId xmlns:a16="http://schemas.microsoft.com/office/drawing/2014/main" id="{2703D9E6-7236-450A-B4A0-AB8D876C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t139">
            <a:extLst xmlns:a="http://schemas.openxmlformats.org/drawingml/2006/main">
              <a:ext uri="{FF2B5EF4-FFF2-40B4-BE49-F238E27FC236}">
                <a16:creationId xmlns:a16="http://schemas.microsoft.com/office/drawing/2014/main" id="{818A62F7-34B4-49FC-8394-6E4DE376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478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참가자 경험</a:t>
            </a:r>
          </a:p>
        </p:txBody>
      </p:sp>
      <p:sp>
        <p:nvSpPr>
          <p:cNvPr id="7" name="t140">
            <a:extLst xmlns:a="http://schemas.openxmlformats.org/drawingml/2006/main">
              <a:ext uri="{FF2B5EF4-FFF2-40B4-BE49-F238E27FC236}">
                <a16:creationId xmlns:a16="http://schemas.microsoft.com/office/drawing/2014/main" id="{A212DFB8-B2BC-49AC-B688-92BC4847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62225"/>
            <a:ext cx="2533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찬성 5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보류 0 · 반대 0</a:t>
            </a:r>
          </a:p>
        </p:txBody>
      </p:sp>
      <p:sp>
        <p:nvSpPr>
          <p:cNvPr id="8" name="t141">
            <a:extLst xmlns:a="http://schemas.openxmlformats.org/drawingml/2006/main">
              <a:ext uri="{FF2B5EF4-FFF2-40B4-BE49-F238E27FC236}">
                <a16:creationId xmlns:a16="http://schemas.microsoft.com/office/drawing/2014/main" id="{4E7FEBC2-45AA-4A6A-8E90-E0D3905D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2533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내 의견 반영·남은 조건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AI 자동 정리 기록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함께 확인</a:t>
            </a:r>
          </a:p>
        </p:txBody>
      </p:sp>
      <p:sp>
        <p:nvSpPr>
          <p:cNvPr id="9" name="t142">
            <a:extLst xmlns:a="http://schemas.openxmlformats.org/drawingml/2006/main">
              <a:ext uri="{FF2B5EF4-FFF2-40B4-BE49-F238E27FC236}">
                <a16:creationId xmlns:a16="http://schemas.microsoft.com/office/drawing/2014/main" id="{C83D9FF6-918C-41B0-98E8-6D9EF084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197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체험용 결과</a:t>
            </a:r>
          </a:p>
          <a:p xmlns:a="http://schemas.openxmlformats.org/drawingml/2006/main">
            <a:pPr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화면 목업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3aaa8a85442a6"/>
          <a:stretch xmlns:a="http://schemas.openxmlformats.org/drawingml/2006/main"/>
        </p:blipFill>
        <p:spPr>
          <a:xfrm xmlns:a="http://schemas.openxmlformats.org/drawingml/2006/main">
            <a:off x="533508" y="1704975"/>
            <a:ext cx="8191379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148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143">
            <a:extLst xmlns:a="http://schemas.openxmlformats.org/drawingml/2006/main">
              <a:ext uri="{FF2B5EF4-FFF2-40B4-BE49-F238E27FC236}">
                <a16:creationId xmlns:a16="http://schemas.microsoft.com/office/drawing/2014/main" id="{C445C57E-539A-4077-AA44-B2A02B21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12  FAIR GAME RULES</a:t>
            </a:r>
          </a:p>
        </p:txBody>
      </p:sp>
      <p:sp>
        <p:nvSpPr>
          <p:cNvPr id="2" name="t144">
            <a:extLst xmlns:a="http://schemas.openxmlformats.org/drawingml/2006/main">
              <a:ext uri="{FF2B5EF4-FFF2-40B4-BE49-F238E27FC236}">
                <a16:creationId xmlns:a16="http://schemas.microsoft.com/office/drawing/2014/main" id="{A6957682-717C-415D-99AE-C8993B62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통과 여부가 참가자의 성공을 정하지 않습니다</a:t>
            </a:r>
          </a:p>
        </p:txBody>
      </p:sp>
      <p:sp>
        <p:nvSpPr>
          <p:cNvPr id="3" name="t145">
            <a:extLst xmlns:a="http://schemas.openxmlformats.org/drawingml/2006/main">
              <a:ext uri="{FF2B5EF4-FFF2-40B4-BE49-F238E27FC236}">
                <a16:creationId xmlns:a16="http://schemas.microsoft.com/office/drawing/2014/main" id="{EBF213CC-E991-4643-BAA5-599FD0F6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146">
            <a:extLst xmlns:a="http://schemas.openxmlformats.org/drawingml/2006/main">
              <a:ext uri="{FF2B5EF4-FFF2-40B4-BE49-F238E27FC236}">
                <a16:creationId xmlns:a16="http://schemas.microsoft.com/office/drawing/2014/main" id="{0F0257EC-8A6F-4CCC-A33B-C97132D1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t147">
            <a:extLst xmlns:a="http://schemas.openxmlformats.org/drawingml/2006/main">
              <a:ext uri="{FF2B5EF4-FFF2-40B4-BE49-F238E27FC236}">
                <a16:creationId xmlns:a16="http://schemas.microsoft.com/office/drawing/2014/main" id="{A663C1EB-500C-4BF1-BCBF-7D2E531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최종 집계</a:t>
            </a:r>
          </a:p>
        </p:txBody>
      </p:sp>
      <p:sp>
        <p:nvSpPr>
          <p:cNvPr id="6" name="t148">
            <a:extLst xmlns:a="http://schemas.openxmlformats.org/drawingml/2006/main">
              <a:ext uri="{FF2B5EF4-FFF2-40B4-BE49-F238E27FC236}">
                <a16:creationId xmlns:a16="http://schemas.microsoft.com/office/drawing/2014/main" id="{45AF1CB5-9545-4A3A-8143-0D05DF1E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이사회 결론</a:t>
            </a:r>
          </a:p>
        </p:txBody>
      </p:sp>
      <p:sp>
        <p:nvSpPr>
          <p:cNvPr id="7" name="t149">
            <a:extLst xmlns:a="http://schemas.openxmlformats.org/drawingml/2006/main">
              <a:ext uri="{FF2B5EF4-FFF2-40B4-BE49-F238E27FC236}">
                <a16:creationId xmlns:a16="http://schemas.microsoft.com/office/drawing/2014/main" id="{32E1F382-38B7-431F-85B9-C55C830B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참가자에게 남는 경험</a:t>
            </a:r>
          </a:p>
        </p:txBody>
      </p:sp>
      <p:sp>
        <p:nvSpPr>
          <p:cNvPr id="8" name="t150">
            <a:extLst xmlns:a="http://schemas.openxmlformats.org/drawingml/2006/main">
              <a:ext uri="{FF2B5EF4-FFF2-40B4-BE49-F238E27FC236}">
                <a16:creationId xmlns:a16="http://schemas.microsoft.com/office/drawing/2014/main" id="{E4B03FC2-4412-4433-9B0B-221318B4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74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찬성 3표 이상</a:t>
            </a:r>
          </a:p>
        </p:txBody>
      </p:sp>
      <p:sp>
        <p:nvSpPr>
          <p:cNvPr id="9" name="t151">
            <a:extLst xmlns:a="http://schemas.openxmlformats.org/drawingml/2006/main">
              <a:ext uri="{FF2B5EF4-FFF2-40B4-BE49-F238E27FC236}">
                <a16:creationId xmlns:a16="http://schemas.microsoft.com/office/drawing/2014/main" id="{F368CD1D-4723-4665-9029-0AC5541D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57500"/>
            <a:ext cx="312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원안 또는 수정안 승인</a:t>
            </a:r>
          </a:p>
        </p:txBody>
      </p:sp>
      <p:sp>
        <p:nvSpPr>
          <p:cNvPr id="10" name="t152">
            <a:extLst xmlns:a="http://schemas.openxmlformats.org/drawingml/2006/main">
              <a:ext uri="{FF2B5EF4-FFF2-40B4-BE49-F238E27FC236}">
                <a16:creationId xmlns:a16="http://schemas.microsoft.com/office/drawing/2014/main" id="{0C506FB4-6C06-443D-A064-8D4DA077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채택된 조건이 실행 기준에 반영</a:t>
            </a:r>
          </a:p>
        </p:txBody>
      </p:sp>
      <p:sp>
        <p:nvSpPr>
          <p:cNvPr id="11" name="t153">
            <a:extLst xmlns:a="http://schemas.openxmlformats.org/drawingml/2006/main">
              <a:ext uri="{FF2B5EF4-FFF2-40B4-BE49-F238E27FC236}">
                <a16:creationId xmlns:a16="http://schemas.microsoft.com/office/drawing/2014/main" id="{0CE8EFAF-01F0-4FF8-9956-41CD922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274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반대 3표 이상</a:t>
            </a:r>
          </a:p>
        </p:txBody>
      </p:sp>
      <p:sp>
        <p:nvSpPr>
          <p:cNvPr id="12" name="t154">
            <a:extLst xmlns:a="http://schemas.openxmlformats.org/drawingml/2006/main">
              <a:ext uri="{FF2B5EF4-FFF2-40B4-BE49-F238E27FC236}">
                <a16:creationId xmlns:a16="http://schemas.microsoft.com/office/drawing/2014/main" id="{2B2C2D07-568F-4AC9-A403-C0862FF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10000"/>
            <a:ext cx="312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부결</a:t>
            </a:r>
          </a:p>
        </p:txBody>
      </p:sp>
      <p:sp>
        <p:nvSpPr>
          <p:cNvPr id="13" name="t155">
            <a:extLst xmlns:a="http://schemas.openxmlformats.org/drawingml/2006/main">
              <a:ext uri="{FF2B5EF4-FFF2-40B4-BE49-F238E27FC236}">
                <a16:creationId xmlns:a16="http://schemas.microsoft.com/office/drawing/2014/main" id="{6C1F87C6-E83C-4343-9C4B-50889562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내 반대 이유가 회의에 기록</a:t>
            </a:r>
          </a:p>
        </p:txBody>
      </p:sp>
      <p:sp>
        <p:nvSpPr>
          <p:cNvPr id="14" name="t156">
            <a:extLst xmlns:a="http://schemas.openxmlformats.org/drawingml/2006/main">
              <a:ext uri="{FF2B5EF4-FFF2-40B4-BE49-F238E27FC236}">
                <a16:creationId xmlns:a16="http://schemas.microsoft.com/office/drawing/2014/main" id="{023394AE-D0EF-4442-A27D-482D9E5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74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그 밖의 조합</a:t>
            </a:r>
          </a:p>
        </p:txBody>
      </p:sp>
      <p:sp>
        <p:nvSpPr>
          <p:cNvPr id="15" name="t157">
            <a:extLst xmlns:a="http://schemas.openxmlformats.org/drawingml/2006/main">
              <a:ext uri="{FF2B5EF4-FFF2-40B4-BE49-F238E27FC236}">
                <a16:creationId xmlns:a16="http://schemas.microsoft.com/office/drawing/2014/main" id="{7A2EF888-43AB-4EB1-9C99-241C4D6C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62500"/>
            <a:ext cx="312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보류·재심의</a:t>
            </a:r>
          </a:p>
        </p:txBody>
      </p:sp>
      <p:sp>
        <p:nvSpPr>
          <p:cNvPr id="16" name="t158">
            <a:extLst xmlns:a="http://schemas.openxmlformats.org/drawingml/2006/main">
              <a:ext uri="{FF2B5EF4-FFF2-40B4-BE49-F238E27FC236}">
                <a16:creationId xmlns:a16="http://schemas.microsoft.com/office/drawing/2014/main" id="{7879CBC1-D293-40D0-8728-D37F170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462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무엇을 더 확인할지 결정</a:t>
            </a:r>
          </a:p>
        </p:txBody>
      </p:sp>
      <p:sp>
        <p:nvSpPr>
          <p:cNvPr id="17" name="t159">
            <a:extLst xmlns:a="http://schemas.openxmlformats.org/drawingml/2006/main">
              <a:ext uri="{FF2B5EF4-FFF2-40B4-BE49-F238E27FC236}">
                <a16:creationId xmlns:a16="http://schemas.microsoft.com/office/drawing/2014/main" id="{7A30C016-5FF3-42F6-A3A4-C502475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모두 같은 안건에 한 표씩  ·  미확정 표는 미표결  ·  소수 의견도 기록</a:t>
            </a:r>
          </a:p>
        </p:txBody>
      </p:sp>
    </p:spTree>
    <p:extLst>
      <p:ext uri="{BB962C8B-B14F-4D97-AF65-F5344CB8AC3E}">
        <p14:creationId xmlns:p14="http://schemas.microsoft.com/office/powerpoint/2010/main" val="18259342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99">
            <a:extLst xmlns:a="http://schemas.openxmlformats.org/drawingml/2006/main">
              <a:ext uri="{FF2B5EF4-FFF2-40B4-BE49-F238E27FC236}">
                <a16:creationId xmlns:a16="http://schemas.microsoft.com/office/drawing/2014/main" id="{C671BD23-1F0B-4030-A1DA-F25D00C5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SCREEN EXAMPLE · AGENDA 03</a:t>
            </a:r>
          </a:p>
        </p:txBody>
      </p:sp>
      <p:sp>
        <p:nvSpPr>
          <p:cNvPr id="2" name="t100">
            <a:extLst xmlns:a="http://schemas.openxmlformats.org/drawingml/2006/main">
              <a:ext uri="{FF2B5EF4-FFF2-40B4-BE49-F238E27FC236}">
                <a16:creationId xmlns:a16="http://schemas.microsoft.com/office/drawing/2014/main" id="{E9A005AA-F6E1-4D46-BE16-79106C97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안건 ③ 확대와 선검증을 구분해 결정합니다</a:t>
            </a:r>
          </a:p>
        </p:txBody>
      </p:sp>
      <p:sp>
        <p:nvSpPr>
          <p:cNvPr id="3" name="t101">
            <a:extLst xmlns:a="http://schemas.openxmlformats.org/drawingml/2006/main">
              <a:ext uri="{FF2B5EF4-FFF2-40B4-BE49-F238E27FC236}">
                <a16:creationId xmlns:a16="http://schemas.microsoft.com/office/drawing/2014/main" id="{8ED57F7D-952C-44E6-A53C-5FD75CA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102">
            <a:extLst xmlns:a="http://schemas.openxmlformats.org/drawingml/2006/main">
              <a:ext uri="{FF2B5EF4-FFF2-40B4-BE49-F238E27FC236}">
                <a16:creationId xmlns:a16="http://schemas.microsoft.com/office/drawing/2014/main" id="{CBEF7D9D-1B96-4482-83B7-2A9CC92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t103">
            <a:extLst xmlns:a="http://schemas.openxmlformats.org/drawingml/2006/main">
              <a:ext uri="{FF2B5EF4-FFF2-40B4-BE49-F238E27FC236}">
                <a16:creationId xmlns:a16="http://schemas.microsoft.com/office/drawing/2014/main" id="{5BC49686-E800-4CA4-9146-A4B7877B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478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P1 + P4 예시</a:t>
            </a:r>
          </a:p>
        </p:txBody>
      </p:sp>
      <p:sp>
        <p:nvSpPr>
          <p:cNvPr id="7" name="t104">
            <a:extLst xmlns:a="http://schemas.openxmlformats.org/drawingml/2006/main">
              <a:ext uri="{FF2B5EF4-FFF2-40B4-BE49-F238E27FC236}">
                <a16:creationId xmlns:a16="http://schemas.microsoft.com/office/drawing/2014/main" id="{F7F41B79-3FCD-4E24-9DFA-EBE0345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62225"/>
            <a:ext cx="2533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검증안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(확대 재심의)</a:t>
            </a:r>
          </a:p>
        </p:txBody>
      </p:sp>
      <p:sp>
        <p:nvSpPr>
          <p:cNvPr id="8" name="t105">
            <a:extLst xmlns:a="http://schemas.openxmlformats.org/drawingml/2006/main">
              <a:ext uri="{FF2B5EF4-FFF2-40B4-BE49-F238E27FC236}">
                <a16:creationId xmlns:a16="http://schemas.microsoft.com/office/drawing/2014/main" id="{D94DFCAA-4CD4-4D4E-940E-41BC135B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05225"/>
            <a:ext cx="2533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검토·동의 절차 유지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확대 인력·부하 검증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확대 여부는 재심의</a:t>
            </a:r>
          </a:p>
        </p:txBody>
      </p:sp>
      <p:sp>
        <p:nvSpPr>
          <p:cNvPr id="9" name="t106">
            <a:extLst xmlns:a="http://schemas.openxmlformats.org/drawingml/2006/main">
              <a:ext uri="{FF2B5EF4-FFF2-40B4-BE49-F238E27FC236}">
                <a16:creationId xmlns:a16="http://schemas.microsoft.com/office/drawing/2014/main" id="{368C9DEB-53E6-4246-AA64-0C5792A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197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이 최종안을 확인한 뒤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마지막에 한 표 행사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8d179daf84d67"/>
          <a:stretch xmlns:a="http://schemas.openxmlformats.org/drawingml/2006/main"/>
        </p:blipFill>
        <p:spPr>
          <a:xfrm xmlns:a="http://schemas.openxmlformats.org/drawingml/2006/main">
            <a:off x="533508" y="1704975"/>
            <a:ext cx="8191379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400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160">
            <a:extLst xmlns:a="http://schemas.openxmlformats.org/drawingml/2006/main">
              <a:ext uri="{FF2B5EF4-FFF2-40B4-BE49-F238E27FC236}">
                <a16:creationId xmlns:a16="http://schemas.microsoft.com/office/drawing/2014/main" id="{1B834733-D755-4CB4-9D9E-448E92B4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13  IMPLEMENTATION</a:t>
            </a:r>
          </a:p>
        </p:txBody>
      </p:sp>
      <p:sp>
        <p:nvSpPr>
          <p:cNvPr id="2" name="t161">
            <a:extLst xmlns:a="http://schemas.openxmlformats.org/drawingml/2006/main">
              <a:ext uri="{FF2B5EF4-FFF2-40B4-BE49-F238E27FC236}">
                <a16:creationId xmlns:a16="http://schemas.microsoft.com/office/drawing/2014/main" id="{0CC0139C-42F3-4BE6-BE35-B6CF5999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브라우저 화면과 표결 엔진을 분리합니다</a:t>
            </a:r>
          </a:p>
        </p:txBody>
      </p:sp>
      <p:sp>
        <p:nvSpPr>
          <p:cNvPr id="3" name="t162">
            <a:extLst xmlns:a="http://schemas.openxmlformats.org/drawingml/2006/main">
              <a:ext uri="{FF2B5EF4-FFF2-40B4-BE49-F238E27FC236}">
                <a16:creationId xmlns:a16="http://schemas.microsoft.com/office/drawing/2014/main" id="{FD21F9E3-ABB4-4214-A584-4A50F00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예측 가능한 게임 진행 위에 AI 설명 기능을 연결합니다.</a:t>
            </a:r>
          </a:p>
        </p:txBody>
      </p:sp>
      <p:sp>
        <p:nvSpPr>
          <p:cNvPr id="4" name="t163">
            <a:extLst xmlns:a="http://schemas.openxmlformats.org/drawingml/2006/main">
              <a:ext uri="{FF2B5EF4-FFF2-40B4-BE49-F238E27FC236}">
                <a16:creationId xmlns:a16="http://schemas.microsoft.com/office/drawing/2014/main" id="{C7800134-2AF5-45FD-A7BE-E96F11A6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5" name="t164">
            <a:extLst xmlns:a="http://schemas.openxmlformats.org/drawingml/2006/main">
              <a:ext uri="{FF2B5EF4-FFF2-40B4-BE49-F238E27FC236}">
                <a16:creationId xmlns:a16="http://schemas.microsoft.com/office/drawing/2014/main" id="{088D31F2-FC58-43B4-AD78-75628002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t165">
            <a:extLst xmlns:a="http://schemas.openxmlformats.org/drawingml/2006/main">
              <a:ext uri="{FF2B5EF4-FFF2-40B4-BE49-F238E27FC236}">
                <a16:creationId xmlns:a16="http://schemas.microsoft.com/office/drawing/2014/main" id="{625F1FFB-8974-4AB0-B025-ABCF5309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166">
            <a:extLst xmlns:a="http://schemas.openxmlformats.org/drawingml/2006/main">
              <a:ext uri="{FF2B5EF4-FFF2-40B4-BE49-F238E27FC236}">
                <a16:creationId xmlns:a16="http://schemas.microsoft.com/office/drawing/2014/main" id="{FCD16111-4422-484B-8303-31915AF6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체험 화면</a:t>
            </a:r>
          </a:p>
        </p:txBody>
      </p:sp>
      <p:sp>
        <p:nvSpPr>
          <p:cNvPr id="8" name="t167">
            <a:extLst xmlns:a="http://schemas.openxmlformats.org/drawingml/2006/main">
              <a:ext uri="{FF2B5EF4-FFF2-40B4-BE49-F238E27FC236}">
                <a16:creationId xmlns:a16="http://schemas.microsoft.com/office/drawing/2014/main" id="{C6797537-BCA5-4912-A714-631FDBE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28850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안건·임원·내 발언·타이머·결과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PC 마우스·물리 키보드로 실행</a:t>
            </a:r>
          </a:p>
        </p:txBody>
      </p:sp>
      <p:sp>
        <p:nvSpPr>
          <p:cNvPr id="9" name="t168">
            <a:extLst xmlns:a="http://schemas.openxmlformats.org/drawingml/2006/main">
              <a:ext uri="{FF2B5EF4-FFF2-40B4-BE49-F238E27FC236}">
                <a16:creationId xmlns:a16="http://schemas.microsoft.com/office/drawing/2014/main" id="{192519B3-7CEB-4A2F-A431-9F889C03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169">
            <a:extLst xmlns:a="http://schemas.openxmlformats.org/drawingml/2006/main">
              <a:ext uri="{FF2B5EF4-FFF2-40B4-BE49-F238E27FC236}">
                <a16:creationId xmlns:a16="http://schemas.microsoft.com/office/drawing/2014/main" id="{1E951A9B-1B4C-4089-9B91-DEEEC72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480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토론·표결 엔진</a:t>
            </a:r>
          </a:p>
        </p:txBody>
      </p:sp>
      <p:sp>
        <p:nvSpPr>
          <p:cNvPr id="11" name="t170">
            <a:extLst xmlns:a="http://schemas.openxmlformats.org/drawingml/2006/main">
              <a:ext uri="{FF2B5EF4-FFF2-40B4-BE49-F238E27FC236}">
                <a16:creationId xmlns:a16="http://schemas.microsoft.com/office/drawing/2014/main" id="{2E1E6C92-30B5-4BEA-92D5-DE79880B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86150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문구·입력을 해석해 임원 반응 구성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최종 표결은 별도로 확정·집계</a:t>
            </a:r>
          </a:p>
        </p:txBody>
      </p:sp>
      <p:sp>
        <p:nvSpPr>
          <p:cNvPr id="12" name="t171">
            <a:extLst xmlns:a="http://schemas.openxmlformats.org/drawingml/2006/main">
              <a:ext uri="{FF2B5EF4-FFF2-40B4-BE49-F238E27FC236}">
                <a16:creationId xmlns:a16="http://schemas.microsoft.com/office/drawing/2014/main" id="{781E1773-ECC2-49D9-BFDA-D7FB2C1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172">
            <a:extLst xmlns:a="http://schemas.openxmlformats.org/drawingml/2006/main">
              <a:ext uri="{FF2B5EF4-FFF2-40B4-BE49-F238E27FC236}">
                <a16:creationId xmlns:a16="http://schemas.microsoft.com/office/drawing/2014/main" id="{5D3701BA-0C25-40C2-8C9B-AD38D15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AI 비서실장</a:t>
            </a:r>
          </a:p>
        </p:txBody>
      </p:sp>
      <p:sp>
        <p:nvSpPr>
          <p:cNvPr id="14" name="t173">
            <a:extLst xmlns:a="http://schemas.openxmlformats.org/drawingml/2006/main">
              <a:ext uri="{FF2B5EF4-FFF2-40B4-BE49-F238E27FC236}">
                <a16:creationId xmlns:a16="http://schemas.microsoft.com/office/drawing/2014/main" id="{71F9D549-1382-4D93-9075-044639AC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43450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사전 구성 자동 정리·조건 비교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P2 발언 정리 실패 시 원문 유지</a:t>
            </a:r>
          </a:p>
        </p:txBody>
      </p:sp>
    </p:spTree>
    <p:extLst>
      <p:ext uri="{BB962C8B-B14F-4D97-AF65-F5344CB8AC3E}">
        <p14:creationId xmlns:p14="http://schemas.microsoft.com/office/powerpoint/2010/main" val="3020358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174">
            <a:extLst xmlns:a="http://schemas.openxmlformats.org/drawingml/2006/main">
              <a:ext uri="{FF2B5EF4-FFF2-40B4-BE49-F238E27FC236}">
                <a16:creationId xmlns:a16="http://schemas.microsoft.com/office/drawing/2014/main" id="{A4F41B75-43AA-4231-B46C-354F13B7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14  ON-SITE OPERATION</a:t>
            </a:r>
          </a:p>
        </p:txBody>
      </p:sp>
      <p:sp>
        <p:nvSpPr>
          <p:cNvPr id="2" name="t175">
            <a:extLst xmlns:a="http://schemas.openxmlformats.org/drawingml/2006/main">
              <a:ext uri="{FF2B5EF4-FFF2-40B4-BE49-F238E27FC236}">
                <a16:creationId xmlns:a16="http://schemas.microsoft.com/office/drawing/2014/main" id="{EBF6DA13-9F5E-430B-BBFC-3042A3DE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한 명씩 몰입하고, 대기자도 흐름을 봅니다</a:t>
            </a:r>
          </a:p>
        </p:txBody>
      </p:sp>
      <p:sp>
        <p:nvSpPr>
          <p:cNvPr id="3" name="t176">
            <a:extLst xmlns:a="http://schemas.openxmlformats.org/drawingml/2006/main">
              <a:ext uri="{FF2B5EF4-FFF2-40B4-BE49-F238E27FC236}">
                <a16:creationId xmlns:a16="http://schemas.microsoft.com/office/drawing/2014/main" id="{DCB0452A-CFDF-430E-B48C-BE22FB7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4" name="t177">
            <a:extLst xmlns:a="http://schemas.openxmlformats.org/drawingml/2006/main">
              <a:ext uri="{FF2B5EF4-FFF2-40B4-BE49-F238E27FC236}">
                <a16:creationId xmlns:a16="http://schemas.microsoft.com/office/drawing/2014/main" id="{254A2439-5E4F-4CBE-9EAA-B9270790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5" name="t178">
            <a:extLst xmlns:a="http://schemas.openxmlformats.org/drawingml/2006/main">
              <a:ext uri="{FF2B5EF4-FFF2-40B4-BE49-F238E27FC236}">
                <a16:creationId xmlns:a16="http://schemas.microsoft.com/office/drawing/2014/main" id="{DBFA70C8-27C5-4FA2-91B5-65212407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240초</a:t>
            </a:r>
          </a:p>
        </p:txBody>
      </p:sp>
      <p:sp>
        <p:nvSpPr>
          <p:cNvPr id="6" name="t179">
            <a:extLst xmlns:a="http://schemas.openxmlformats.org/drawingml/2006/main">
              <a:ext uri="{FF2B5EF4-FFF2-40B4-BE49-F238E27FC236}">
                <a16:creationId xmlns:a16="http://schemas.microsoft.com/office/drawing/2014/main" id="{84146860-F193-4927-90AF-05C02083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진행 시간 상한</a:t>
            </a:r>
          </a:p>
        </p:txBody>
      </p:sp>
      <p:sp>
        <p:nvSpPr>
          <p:cNvPr id="7" name="t180">
            <a:extLst xmlns:a="http://schemas.openxmlformats.org/drawingml/2006/main">
              <a:ext uri="{FF2B5EF4-FFF2-40B4-BE49-F238E27FC236}">
                <a16:creationId xmlns:a16="http://schemas.microsoft.com/office/drawing/2014/main" id="{3FDA1DC5-4C28-43DF-9530-E7E6D008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시간 만료 시 결과 이동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미확정 표는 미표결</a:t>
            </a:r>
          </a:p>
        </p:txBody>
      </p:sp>
      <p:sp>
        <p:nvSpPr>
          <p:cNvPr id="8" name="t181">
            <a:extLst xmlns:a="http://schemas.openxmlformats.org/drawingml/2006/main">
              <a:ext uri="{FF2B5EF4-FFF2-40B4-BE49-F238E27FC236}">
                <a16:creationId xmlns:a16="http://schemas.microsoft.com/office/drawing/2014/main" id="{790CC097-EBC0-47A9-9C12-2B1FE9ED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2407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90초</a:t>
            </a:r>
          </a:p>
        </p:txBody>
      </p:sp>
      <p:sp>
        <p:nvSpPr>
          <p:cNvPr id="9" name="t182">
            <a:extLst xmlns:a="http://schemas.openxmlformats.org/drawingml/2006/main">
              <a:ext uri="{FF2B5EF4-FFF2-40B4-BE49-F238E27FC236}">
                <a16:creationId xmlns:a16="http://schemas.microsoft.com/office/drawing/2014/main" id="{BE5C46B6-5BB9-4976-B8BD-034EE330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무입력 자동 복귀</a:t>
            </a:r>
          </a:p>
        </p:txBody>
      </p:sp>
      <p:sp>
        <p:nvSpPr>
          <p:cNvPr id="10" name="t183">
            <a:extLst xmlns:a="http://schemas.openxmlformats.org/drawingml/2006/main">
              <a:ext uri="{FF2B5EF4-FFF2-40B4-BE49-F238E27FC236}">
                <a16:creationId xmlns:a16="http://schemas.microsoft.com/office/drawing/2014/main" id="{BF12DD5E-F736-468B-A0B4-9E24FA7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75초 안내 · 90초 대기 복귀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결과 화면에도 적용</a:t>
            </a:r>
          </a:p>
        </p:txBody>
      </p:sp>
      <p:sp>
        <p:nvSpPr>
          <p:cNvPr id="11" name="t184">
            <a:extLst xmlns:a="http://schemas.openxmlformats.org/drawingml/2006/main">
              <a:ext uri="{FF2B5EF4-FFF2-40B4-BE49-F238E27FC236}">
                <a16:creationId xmlns:a16="http://schemas.microsoft.com/office/drawing/2014/main" id="{9CB416B3-7BB3-4AC6-B846-3D98E9C3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3419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975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2화면</a:t>
            </a:r>
          </a:p>
        </p:txBody>
      </p:sp>
      <p:sp>
        <p:nvSpPr>
          <p:cNvPr id="12" name="t185">
            <a:extLst xmlns:a="http://schemas.openxmlformats.org/drawingml/2006/main">
              <a:ext uri="{FF2B5EF4-FFF2-40B4-BE49-F238E27FC236}">
                <a16:creationId xmlns:a16="http://schemas.microsoft.com/office/drawing/2014/main" id="{C19C6FD3-7437-43C8-A2F0-FA95B33A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09950"/>
            <a:ext cx="3419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참가자 화면 + 관람 창</a:t>
            </a:r>
          </a:p>
        </p:txBody>
      </p:sp>
      <p:sp>
        <p:nvSpPr>
          <p:cNvPr id="13" name="t186">
            <a:extLst xmlns:a="http://schemas.openxmlformats.org/drawingml/2006/main">
              <a:ext uri="{FF2B5EF4-FFF2-40B4-BE49-F238E27FC236}">
                <a16:creationId xmlns:a16="http://schemas.microsoft.com/office/drawing/2014/main" id="{098EBF26-37EC-4C0D-9014-52DCFF3C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05275"/>
            <a:ext cx="3419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입력 원문·미확정 표 비공개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같은 PC·브라우저로 동기화</a:t>
            </a:r>
          </a:p>
        </p:txBody>
      </p:sp>
      <p:sp>
        <p:nvSpPr>
          <p:cNvPr id="14" name="t187">
            <a:extLst xmlns:a="http://schemas.openxmlformats.org/drawingml/2006/main">
              <a:ext uri="{FF2B5EF4-FFF2-40B4-BE49-F238E27FC236}">
                <a16:creationId xmlns:a16="http://schemas.microsoft.com/office/drawing/2014/main" id="{44942BE8-41E0-4BB2-A9A9-DBCEAE71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운영 버튼 클릭 → 관람 창 열기 / 초기화  ·  전체화면·로컬 자산·한글 입력 검수</a:t>
            </a:r>
          </a:p>
        </p:txBody>
      </p:sp>
    </p:spTree>
    <p:extLst>
      <p:ext uri="{BB962C8B-B14F-4D97-AF65-F5344CB8AC3E}">
        <p14:creationId xmlns:p14="http://schemas.microsoft.com/office/powerpoint/2010/main" val="20316948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188">
            <a:extLst xmlns:a="http://schemas.openxmlformats.org/drawingml/2006/main">
              <a:ext uri="{FF2B5EF4-FFF2-40B4-BE49-F238E27FC236}">
                <a16:creationId xmlns:a16="http://schemas.microsoft.com/office/drawing/2014/main" id="{51E5BF77-BF26-47D5-8209-415A573B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15  NEXT STEP</a:t>
            </a:r>
          </a:p>
        </p:txBody>
      </p:sp>
      <p:sp>
        <p:nvSpPr>
          <p:cNvPr id="2" name="t189">
            <a:extLst xmlns:a="http://schemas.openxmlformats.org/drawingml/2006/main">
              <a:ext uri="{FF2B5EF4-FFF2-40B4-BE49-F238E27FC236}">
                <a16:creationId xmlns:a16="http://schemas.microsoft.com/office/drawing/2014/main" id="{34E1A9C1-CFA3-4A90-9F1E-94B63E65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3425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먼저, 한 안건의 “이사 경험”을 완성합니다</a:t>
            </a:r>
          </a:p>
        </p:txBody>
      </p:sp>
      <p:sp>
        <p:nvSpPr>
          <p:cNvPr id="3" name="t190">
            <a:extLst xmlns:a="http://schemas.openxmlformats.org/drawingml/2006/main">
              <a:ext uri="{FF2B5EF4-FFF2-40B4-BE49-F238E27FC236}">
                <a16:creationId xmlns:a16="http://schemas.microsoft.com/office/drawing/2014/main" id="{88E0952D-FC98-4183-A1F8-3B83ECE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의견 전달과 최종 투표를 분리한 체험을 검증하고 3개 안건으로 확장합니다.</a:t>
            </a:r>
          </a:p>
        </p:txBody>
      </p:sp>
      <p:sp>
        <p:nvSpPr>
          <p:cNvPr id="4" name="t191">
            <a:extLst xmlns:a="http://schemas.openxmlformats.org/drawingml/2006/main">
              <a:ext uri="{FF2B5EF4-FFF2-40B4-BE49-F238E27FC236}">
                <a16:creationId xmlns:a16="http://schemas.microsoft.com/office/drawing/2014/main" id="{DEFBA937-378A-43C3-85E9-5A0E9B81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AX DAY 2026  /  삼성화재 C레벨 초청 행사 · </a:t>
            </a:r>
            <a:r>
              <a:rPr sz="1200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기획안 v0.7</a:t>
            </a:r>
          </a:p>
        </p:txBody>
      </p:sp>
      <p:sp>
        <p:nvSpPr>
          <p:cNvPr id="5" name="t192">
            <a:extLst xmlns:a="http://schemas.openxmlformats.org/drawingml/2006/main">
              <a:ext uri="{FF2B5EF4-FFF2-40B4-BE49-F238E27FC236}">
                <a16:creationId xmlns:a16="http://schemas.microsoft.com/office/drawing/2014/main" id="{7477BF7A-5F62-4819-9B8A-A72944E9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t193">
            <a:extLst xmlns:a="http://schemas.openxmlformats.org/drawingml/2006/main">
              <a:ext uri="{FF2B5EF4-FFF2-40B4-BE49-F238E27FC236}">
                <a16:creationId xmlns:a16="http://schemas.microsoft.com/office/drawing/2014/main" id="{18F4652E-6B89-47A0-B901-C5BBD385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027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194">
            <a:extLst xmlns:a="http://schemas.openxmlformats.org/drawingml/2006/main">
              <a:ext uri="{FF2B5EF4-FFF2-40B4-BE49-F238E27FC236}">
                <a16:creationId xmlns:a16="http://schemas.microsoft.com/office/drawing/2014/main" id="{189AC2A0-E1D1-46AD-BE70-27A96468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0027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P0 · AI 업무 비서</a:t>
            </a:r>
          </a:p>
        </p:txBody>
      </p:sp>
      <p:sp>
        <p:nvSpPr>
          <p:cNvPr id="8" name="t195">
            <a:extLst xmlns:a="http://schemas.openxmlformats.org/drawingml/2006/main">
              <a:ext uri="{FF2B5EF4-FFF2-40B4-BE49-F238E27FC236}">
                <a16:creationId xmlns:a16="http://schemas.microsoft.com/office/drawing/2014/main" id="{80814BFB-5A78-4531-A2EB-CEE89BCD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착석 → 의견 교환 → 표결 → 결과</a:t>
            </a:r>
          </a:p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참가자가 이사라고 느끼는지 확인</a:t>
            </a:r>
          </a:p>
        </p:txBody>
      </p:sp>
      <p:sp>
        <p:nvSpPr>
          <p:cNvPr id="9" name="t196">
            <a:extLst xmlns:a="http://schemas.openxmlformats.org/drawingml/2006/main">
              <a:ext uri="{FF2B5EF4-FFF2-40B4-BE49-F238E27FC236}">
                <a16:creationId xmlns:a16="http://schemas.microsoft.com/office/drawing/2014/main" id="{58BDB28D-FA7E-4789-9CD9-5F30B9CD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197">
            <a:extLst xmlns:a="http://schemas.openxmlformats.org/drawingml/2006/main">
              <a:ext uri="{FF2B5EF4-FFF2-40B4-BE49-F238E27FC236}">
                <a16:creationId xmlns:a16="http://schemas.microsoft.com/office/drawing/2014/main" id="{0AEF956D-ADF0-4E88-BBD8-8E28C029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766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P1 · 세 안건·관람 화면</a:t>
            </a:r>
          </a:p>
        </p:txBody>
      </p:sp>
      <p:sp>
        <p:nvSpPr>
          <p:cNvPr id="11" name="t198">
            <a:extLst xmlns:a="http://schemas.openxmlformats.org/drawingml/2006/main">
              <a:ext uri="{FF2B5EF4-FFF2-40B4-BE49-F238E27FC236}">
                <a16:creationId xmlns:a16="http://schemas.microsoft.com/office/drawing/2014/main" id="{527DE264-AE3D-49D9-988A-B0B7B1AD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14725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임원 반응·표결 규칙·미표결 처리</a:t>
            </a:r>
          </a:p>
          <a:p xmlns:a="http://schemas.openxmlformats.org/drawingml/2006/main">
            <a:pPr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가결·보류·부결 경로 검증</a:t>
            </a:r>
          </a:p>
        </p:txBody>
      </p:sp>
      <p:sp>
        <p:nvSpPr>
          <p:cNvPr id="12" name="t199">
            <a:extLst xmlns:a="http://schemas.openxmlformats.org/drawingml/2006/main">
              <a:ext uri="{FF2B5EF4-FFF2-40B4-BE49-F238E27FC236}">
                <a16:creationId xmlns:a16="http://schemas.microsoft.com/office/drawing/2014/main" id="{BCF86935-0A71-4E14-9CAD-1CDE5FEA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36E0F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200">
            <a:extLst xmlns:a="http://schemas.openxmlformats.org/drawingml/2006/main">
              <a:ext uri="{FF2B5EF4-FFF2-40B4-BE49-F238E27FC236}">
                <a16:creationId xmlns:a16="http://schemas.microsoft.com/office/drawing/2014/main" id="{3033D318-C11C-42D2-BE10-FC56F0D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5297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4F8FF"/>
                </a:solidFill>
                <a:latin typeface="Noto Sans KR"/>
                <a:ea typeface="Noto Sans KR"/>
                <a:cs typeface="Noto Sans KR"/>
              </a:rPr>
              <a:t>P2 · 선택적 AI 연결</a:t>
            </a:r>
          </a:p>
        </p:txBody>
      </p:sp>
      <p:sp>
        <p:nvSpPr>
          <p:cNvPr id="14" name="t201">
            <a:extLst xmlns:a="http://schemas.openxmlformats.org/drawingml/2006/main">
              <a:ext uri="{FF2B5EF4-FFF2-40B4-BE49-F238E27FC236}">
                <a16:creationId xmlns:a16="http://schemas.microsoft.com/office/drawing/2014/main" id="{AA10729F-F7CF-4563-8E09-63EB6751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91075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내 발언 정리 · 실패 시 원문 유지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A9BDD3"/>
                </a:solidFill>
                <a:latin typeface="Noto Sans KR"/>
                <a:ea typeface="Noto Sans KR"/>
                <a:cs typeface="Noto Sans KR"/>
              </a:rPr>
              <a:t>마우스·한글 입력·2화면 리허설</a:t>
            </a:r>
          </a:p>
        </p:txBody>
      </p:sp>
    </p:spTree>
    <p:extLst>
      <p:ext uri="{BB962C8B-B14F-4D97-AF65-F5344CB8AC3E}">
        <p14:creationId xmlns:p14="http://schemas.microsoft.com/office/powerpoint/2010/main" val="1960683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2026-09-09T09:40:45.5910000Z</dcterms:created>
  <dcterms:modified xsi:type="dcterms:W3CDTF">2026-09-09T09:40:45.5910000Z</dcterms:modified>
</coreProperties>
</file>